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7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apparent contradiction: the workload obtained a token, yet the application still failed.</a:t>
            </a:r>
          </a:p>
          <a:p>
            <a:endParaRPr/>
          </a:p>
          <a:p>
            <a:r>
              <a:t>[Sources]</a:t>
            </a:r>
          </a:p>
          <a:p>
            <a:r>
              <a:t>- Internal RCA: Production portal Schema Registry authorization crash loop (sanitized case-study basis).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metrics to establish scale without exposing client-specific times, dates, or resource names.</a:t>
            </a:r>
          </a:p>
          <a:p>
            <a:endParaRPr/>
          </a:p>
          <a:p>
            <a:r>
              <a:t>[Sources]</a:t>
            </a:r>
          </a:p>
          <a:p>
            <a:r>
              <a:t>- Internal RCA: Customer and business impact; incident timeline; confirmed exit-code-1 events.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ordering: authorization rejection, unhandled rejection, process exit, then platform restart.</a:t>
            </a:r>
          </a:p>
          <a:p>
            <a:endParaRPr/>
          </a:p>
          <a:p>
            <a:r>
              <a:t>[Sources]</a:t>
            </a:r>
          </a:p>
          <a:p>
            <a:r>
              <a:t>- Internal RCA: Detection; findings 1–3 and 6–8.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relative timeline intentionally removes client dates and clock times while preserving causal order and duration.</a:t>
            </a:r>
          </a:p>
          <a:p>
            <a:endParaRPr/>
          </a:p>
          <a:p>
            <a:r>
              <a:t>[Sources]</a:t>
            </a:r>
          </a:p>
          <a:p>
            <a:r>
              <a:t>- Internal RCA: Incident timeline; recovery validation.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left-to-right across authentication and authorization, then down into application failure and platform recovery.</a:t>
            </a:r>
          </a:p>
          <a:p>
            <a:endParaRPr/>
          </a:p>
          <a:p>
            <a:r>
              <a:t>[Sources]</a:t>
            </a:r>
          </a:p>
          <a:p>
            <a:r>
              <a:t>- Internal RCA: Causal chain; final root-cause statement.</a:t>
            </a:r>
          </a:p>
          <a:p>
            <a:r>
              <a:t>- Microsoft Learn: https://learn.microsoft.com/en-us/azure/developer/javascript/sdk/authentication/credential-chains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pivotal technical lesson: credential-chain fallback is about acquiring a token, not retrying RBAC authorization with another principal.</a:t>
            </a:r>
          </a:p>
          <a:p>
            <a:endParaRPr/>
          </a:p>
          <a:p>
            <a:r>
              <a:t>[Sources]</a:t>
            </a:r>
          </a:p>
          <a:p>
            <a:r>
              <a:t>- Microsoft Learn: https://learn.microsoft.com/en-us/azure/developer/javascript/sdk/authentication/credential-chains</a:t>
            </a:r>
          </a:p>
          <a:p>
            <a:r>
              <a:t>- Microsoft Learn: https://learn.microsoft.com/en-us/azure/developer/javascript/sdk/authentication/best-practices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RCA did not rely on a single symptom. It correlated lifecycle, application, identity, authorization, metric, and control-plane evidence.</a:t>
            </a:r>
          </a:p>
          <a:p>
            <a:endParaRPr/>
          </a:p>
          <a:p>
            <a:r>
              <a:t>[Sources]</a:t>
            </a:r>
          </a:p>
          <a:p>
            <a:r>
              <a:t>- Internal RCA: Evidence collected; confirmed findings; factors ruled out.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Avoid overclaiming: the one-hour validation proved immediate recovery, not complete long-term resilience.</a:t>
            </a:r>
          </a:p>
          <a:p>
            <a:endParaRPr/>
          </a:p>
          <a:p>
            <a:r>
              <a:t>[Sources]</a:t>
            </a:r>
          </a:p>
          <a:p>
            <a:r>
              <a:t>- Internal RCA: Resolution and recovery validation.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 controls as layers. Identity correction is necessary but insufficient without error containment, observability, and availability design.</a:t>
            </a:r>
          </a:p>
          <a:p>
            <a:endParaRPr/>
          </a:p>
          <a:p>
            <a:r>
              <a:t>[Sources]</a:t>
            </a:r>
          </a:p>
          <a:p>
            <a:r>
              <a:t>- Internal RCA: Corrective and preventive actions; recommended implementation sequence.</a:t>
            </a:r>
          </a:p>
          <a:p>
            <a:r>
              <a:t>- Microsoft Learn: https://learn.microsoft.com/en-us/azure/developer/javascript/sdk/authentication/best-practices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converting the incident into two review questions: identity determinism and controlled failure behavior.</a:t>
            </a:r>
          </a:p>
          <a:p>
            <a:endParaRPr/>
          </a:p>
          <a:p>
            <a:r>
              <a:t>[Sources]</a:t>
            </a:r>
          </a:p>
          <a:p>
            <a:r>
              <a:t>- Internal RCA: Lessons learned; residual risk; validation and acceptance criteria.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kicker">
            <a:extLst>
              <a:ext uri="{FF2B5EF4-FFF2-40B4-BE49-F238E27FC236}">
                <a16:creationId xmlns:a16="http://schemas.microsoft.com/office/drawing/2014/main" id="{565E88D6-74B9-4F82-A561-66A2E7A9AAF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INCIDENT CASE STUDY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E0B69F0B-EA46-4417-AA4B-47D1EE8CACC9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00012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l">
              <a:defRPr sz="54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When authentication succeeded—</a:t>
            </a:r>
          </a:p>
          <a:p>
            <a:pPr algn="l">
              <a:defRPr sz="54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and production still failed</a:t>
            </a: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F746922D-64C3-464F-A6EE-36155C1C7E2B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20193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782224A4-1613-4601-A0A9-EF7FDDA5CE40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733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Identity selection, exception containment, and single-worker resilience</a:t>
            </a:r>
          </a:p>
        </p:txBody>
      </p:sp>
      <p:sp>
        <p:nvSpPr>
          <p:cNvPr id="5" name="cover-tag">
            <a:extLst>
              <a:ext uri="{FF2B5EF4-FFF2-40B4-BE49-F238E27FC236}">
                <a16:creationId xmlns:a16="http://schemas.microsoft.com/office/drawing/2014/main" id="{C0F24440-682A-41AA-AC94-33DD83437D90}"/>
              </a:ext>
            </a:extLst>
          </p:cNvPr>
          <p:cNvSpPr>
            <a:spLocks noGrp="1"/>
          </p:cNvSpPr>
          <p:nvPr/>
        </p:nvSpPr>
        <p:spPr>
          <a:xfrm>
            <a:off x="457200" y="6096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Executive + technical briefing</a:t>
            </a:r>
          </a:p>
        </p:txBody>
      </p:sp>
    </p:spTree>
    <p:extLst>
      <p:ext uri="{BB962C8B-B14F-4D97-AF65-F5344CB8AC3E}">
        <p14:creationId xmlns:p14="http://schemas.microsoft.com/office/powerpoint/2010/main" val="21471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2">
            <a:extLst>
              <a:ext uri="{FF2B5EF4-FFF2-40B4-BE49-F238E27FC236}">
                <a16:creationId xmlns:a16="http://schemas.microsoft.com/office/drawing/2014/main" id="{FC6A7276-9763-4809-AB73-9D9650AEB1E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58C63E2D-E867-4738-AA2F-4D741FED129A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One dependency caused a full outage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E7AE21C5-3D49-4F96-AF36-3B325B526300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2">
            <a:extLst>
              <a:ext uri="{FF2B5EF4-FFF2-40B4-BE49-F238E27FC236}">
                <a16:creationId xmlns:a16="http://schemas.microsoft.com/office/drawing/2014/main" id="{58012A75-A709-4D53-9DC0-6E074B54CDE0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impact-thesis">
            <a:extLst>
              <a:ext uri="{FF2B5EF4-FFF2-40B4-BE49-F238E27FC236}">
                <a16:creationId xmlns:a16="http://schemas.microsoft.com/office/drawing/2014/main" id="{2428C2CF-2943-4969-A19C-942F792DE91B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Users completed interactive sign-in, but the portal failed during post-login dependency bootstrap. A single serving process left no healthy instance to absorb the failure.</a:t>
            </a:r>
          </a:p>
        </p:txBody>
      </p:sp>
      <p:sp>
        <p:nvSpPr>
          <p:cNvPr id="6" name="metric-bg-48">
            <a:extLst>
              <a:ext uri="{FF2B5EF4-FFF2-40B4-BE49-F238E27FC236}">
                <a16:creationId xmlns:a16="http://schemas.microsoft.com/office/drawing/2014/main" id="{26DE333A-BAA4-438C-9850-7DF53F6F9D95}"/>
              </a:ext>
            </a:extLst>
          </p:cNvPr>
          <p:cNvSpPr>
            <a:spLocks noGrp="1"/>
          </p:cNvSpPr>
          <p:nvPr/>
        </p:nvSpPr>
        <p:spPr>
          <a:xfrm>
            <a:off x="457200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metric-value-48">
            <a:extLst>
              <a:ext uri="{FF2B5EF4-FFF2-40B4-BE49-F238E27FC236}">
                <a16:creationId xmlns:a16="http://schemas.microsoft.com/office/drawing/2014/main" id="{52E36321-F13E-453E-B74D-9D9D64063E2D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8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metric-label-48">
            <a:extLst>
              <a:ext uri="{FF2B5EF4-FFF2-40B4-BE49-F238E27FC236}">
                <a16:creationId xmlns:a16="http://schemas.microsoft.com/office/drawing/2014/main" id="{810A0767-470A-47B3-915A-DE0BD63CCB38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process exits</a:t>
            </a:r>
          </a:p>
        </p:txBody>
      </p:sp>
      <p:sp>
        <p:nvSpPr>
          <p:cNvPr id="9" name="metric-detail-48">
            <a:extLst>
              <a:ext uri="{FF2B5EF4-FFF2-40B4-BE49-F238E27FC236}">
                <a16:creationId xmlns:a16="http://schemas.microsoft.com/office/drawing/2014/main" id="{D266E74C-A376-4925-B8B1-027F84723779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137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Each exit carried the same authorization and unhandled-rejection signatures.</a:t>
            </a:r>
          </a:p>
        </p:txBody>
      </p:sp>
      <p:sp>
        <p:nvSpPr>
          <p:cNvPr id="10" name="metric-bg-463">
            <a:extLst>
              <a:ext uri="{FF2B5EF4-FFF2-40B4-BE49-F238E27FC236}">
                <a16:creationId xmlns:a16="http://schemas.microsoft.com/office/drawing/2014/main" id="{BD2DC4B5-A0B1-4F5A-AB47-B6221E2CA1E7}"/>
              </a:ext>
            </a:extLst>
          </p:cNvPr>
          <p:cNvSpPr>
            <a:spLocks noGrp="1"/>
          </p:cNvSpPr>
          <p:nvPr/>
        </p:nvSpPr>
        <p:spPr>
          <a:xfrm>
            <a:off x="4410075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metric-value-463">
            <a:extLst>
              <a:ext uri="{FF2B5EF4-FFF2-40B4-BE49-F238E27FC236}">
                <a16:creationId xmlns:a16="http://schemas.microsoft.com/office/drawing/2014/main" id="{B893096D-CF62-49E4-9DBF-B5B286E9AD07}"/>
              </a:ext>
            </a:extLst>
          </p:cNvPr>
          <p:cNvSpPr>
            <a:spLocks noGrp="1"/>
          </p:cNvSpPr>
          <p:nvPr/>
        </p:nvSpPr>
        <p:spPr>
          <a:xfrm>
            <a:off x="4676775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8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≈2h 40m</a:t>
            </a:r>
          </a:p>
        </p:txBody>
      </p:sp>
      <p:sp>
        <p:nvSpPr>
          <p:cNvPr id="12" name="metric-label-463">
            <a:extLst>
              <a:ext uri="{FF2B5EF4-FFF2-40B4-BE49-F238E27FC236}">
                <a16:creationId xmlns:a16="http://schemas.microsoft.com/office/drawing/2014/main" id="{6E4F2835-00B5-4B4F-BC8E-FCEB5C8B5127}"/>
              </a:ext>
            </a:extLst>
          </p:cNvPr>
          <p:cNvSpPr>
            <a:spLocks noGrp="1"/>
          </p:cNvSpPr>
          <p:nvPr/>
        </p:nvSpPr>
        <p:spPr>
          <a:xfrm>
            <a:off x="4676775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crash loop</a:t>
            </a:r>
          </a:p>
        </p:txBody>
      </p:sp>
      <p:sp>
        <p:nvSpPr>
          <p:cNvPr id="13" name="metric-detail-463">
            <a:extLst>
              <a:ext uri="{FF2B5EF4-FFF2-40B4-BE49-F238E27FC236}">
                <a16:creationId xmlns:a16="http://schemas.microsoft.com/office/drawing/2014/main" id="{4A629788-FFFB-41F4-9B88-1AC85E3DF1DA}"/>
              </a:ext>
            </a:extLst>
          </p:cNvPr>
          <p:cNvSpPr>
            <a:spLocks noGrp="1"/>
          </p:cNvSpPr>
          <p:nvPr/>
        </p:nvSpPr>
        <p:spPr>
          <a:xfrm>
            <a:off x="4676775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502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platform restarted an unchanged application and credential environment.</a:t>
            </a:r>
          </a:p>
        </p:txBody>
      </p:sp>
      <p:sp>
        <p:nvSpPr>
          <p:cNvPr id="14" name="metric-bg-878">
            <a:extLst>
              <a:ext uri="{FF2B5EF4-FFF2-40B4-BE49-F238E27FC236}">
                <a16:creationId xmlns:a16="http://schemas.microsoft.com/office/drawing/2014/main" id="{B5213774-2D7D-4A48-A881-838403F7A3B5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metric-value-878">
            <a:extLst>
              <a:ext uri="{FF2B5EF4-FFF2-40B4-BE49-F238E27FC236}">
                <a16:creationId xmlns:a16="http://schemas.microsoft.com/office/drawing/2014/main" id="{359EA129-1960-41BC-A602-C42E0753E259}"/>
              </a:ext>
            </a:extLst>
          </p:cNvPr>
          <p:cNvSpPr>
            <a:spLocks noGrp="1"/>
          </p:cNvSpPr>
          <p:nvPr/>
        </p:nvSpPr>
        <p:spPr>
          <a:xfrm>
            <a:off x="8629650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8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metric-label-878">
            <a:extLst>
              <a:ext uri="{FF2B5EF4-FFF2-40B4-BE49-F238E27FC236}">
                <a16:creationId xmlns:a16="http://schemas.microsoft.com/office/drawing/2014/main" id="{BAC22A90-1F0A-4494-A868-A42AA8FC9B2B}"/>
              </a:ext>
            </a:extLst>
          </p:cNvPr>
          <p:cNvSpPr>
            <a:spLocks noGrp="1"/>
          </p:cNvSpPr>
          <p:nvPr/>
        </p:nvSpPr>
        <p:spPr>
          <a:xfrm>
            <a:off x="8629650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serving worker</a:t>
            </a:r>
          </a:p>
        </p:txBody>
      </p:sp>
      <p:sp>
        <p:nvSpPr>
          <p:cNvPr id="17" name="metric-detail-878">
            <a:extLst>
              <a:ext uri="{FF2B5EF4-FFF2-40B4-BE49-F238E27FC236}">
                <a16:creationId xmlns:a16="http://schemas.microsoft.com/office/drawing/2014/main" id="{50BCDCA2-3D2F-4990-A8D5-1BD9E20FB3F2}"/>
              </a:ext>
            </a:extLst>
          </p:cNvPr>
          <p:cNvSpPr>
            <a:spLocks noGrp="1"/>
          </p:cNvSpPr>
          <p:nvPr/>
        </p:nvSpPr>
        <p:spPr>
          <a:xfrm>
            <a:off x="8629650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127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Every process failure removed the workload’s only serving capacity.</a:t>
            </a:r>
          </a:p>
        </p:txBody>
      </p:sp>
    </p:spTree>
    <p:extLst>
      <p:ext uri="{BB962C8B-B14F-4D97-AF65-F5344CB8AC3E}">
        <p14:creationId xmlns:p14="http://schemas.microsoft.com/office/powerpoint/2010/main" val="85130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-3">
            <a:extLst>
              <a:ext uri="{FF2B5EF4-FFF2-40B4-BE49-F238E27FC236}">
                <a16:creationId xmlns:a16="http://schemas.microsoft.com/office/drawing/2014/main" id="{A38CEFFD-C054-4D5C-BA6A-84F15624AD2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6183361A-CAD5-4644-9448-43641F8ABF74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first failure hid behind louder symptoms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681B4D07-DB7D-4EDD-8F12-6C5EC9891EFF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3">
            <a:extLst>
              <a:ext uri="{FF2B5EF4-FFF2-40B4-BE49-F238E27FC236}">
                <a16:creationId xmlns:a16="http://schemas.microsoft.com/office/drawing/2014/main" id="{FA53ADCE-5E39-4A42-A3E9-F751D40FD32D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ymptom-left">
            <a:extLst>
              <a:ext uri="{FF2B5EF4-FFF2-40B4-BE49-F238E27FC236}">
                <a16:creationId xmlns:a16="http://schemas.microsoft.com/office/drawing/2014/main" id="{8073D3AA-D542-427A-B9FB-B5AFE0A2A5F5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5257800" cy="3752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ymptom-right">
            <a:extLst>
              <a:ext uri="{FF2B5EF4-FFF2-40B4-BE49-F238E27FC236}">
                <a16:creationId xmlns:a16="http://schemas.microsoft.com/office/drawing/2014/main" id="{F53CE9FC-40DA-4A2B-B462-B32A7E767185}"/>
              </a:ext>
            </a:extLst>
          </p:cNvPr>
          <p:cNvSpPr>
            <a:spLocks noGrp="1"/>
          </p:cNvSpPr>
          <p:nvPr/>
        </p:nvSpPr>
        <p:spPr>
          <a:xfrm>
            <a:off x="6019800" y="1924050"/>
            <a:ext cx="5715000" cy="3752850"/>
          </a:xfrm>
          <a:prstGeom prst="rect">
            <a:avLst/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ymptom-left-title">
            <a:extLst>
              <a:ext uri="{FF2B5EF4-FFF2-40B4-BE49-F238E27FC236}">
                <a16:creationId xmlns:a16="http://schemas.microsoft.com/office/drawing/2014/main" id="{CA2EC4FB-496E-4E60-B8E3-72FD74772761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What users and operators saw</a:t>
            </a:r>
          </a:p>
        </p:txBody>
      </p:sp>
      <p:sp>
        <p:nvSpPr>
          <p:cNvPr id="8" name="symptom-left-body">
            <a:extLst>
              <a:ext uri="{FF2B5EF4-FFF2-40B4-BE49-F238E27FC236}">
                <a16:creationId xmlns:a16="http://schemas.microsoft.com/office/drawing/2014/main" id="{D3D5E680-C4E3-4D00-A430-9F33BD0A3380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44767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• Post-login application bootstrap failed</a:t>
            </a:r>
          </a:p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• Latency and HTTP errors rose</a:t>
            </a:r>
          </a:p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• Plan CPU climbed during repeated warm-up</a:t>
            </a:r>
          </a:p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• The service appeared to ‘randomly’ restart</a:t>
            </a:r>
          </a:p>
        </p:txBody>
      </p:sp>
      <p:sp>
        <p:nvSpPr>
          <p:cNvPr id="9" name="symptom-right-title">
            <a:extLst>
              <a:ext uri="{FF2B5EF4-FFF2-40B4-BE49-F238E27FC236}">
                <a16:creationId xmlns:a16="http://schemas.microsoft.com/office/drawing/2014/main" id="{EE40BDE1-0A8A-4FD3-BB0A-803266D742DC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What initiated the sequence</a:t>
            </a:r>
          </a:p>
        </p:txBody>
      </p:sp>
      <p:sp>
        <p:nvSpPr>
          <p:cNvPr id="10" name="symptom-right-error">
            <a:extLst>
              <a:ext uri="{FF2B5EF4-FFF2-40B4-BE49-F238E27FC236}">
                <a16:creationId xmlns:a16="http://schemas.microsoft.com/office/drawing/2014/main" id="{A08CACA0-9B0B-4FCC-8B07-B0534D22DFB4}"/>
              </a:ext>
            </a:extLst>
          </p:cNvPr>
          <p:cNvSpPr>
            <a:spLocks noGrp="1"/>
          </p:cNvSpPr>
          <p:nvPr/>
        </p:nvSpPr>
        <p:spPr>
          <a:xfrm>
            <a:off x="6305550" y="3009900"/>
            <a:ext cx="4953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28"/>
          </a:bodyPr>
          <a:lstStyle/>
          <a:p>
            <a:pPr algn="l">
              <a:defRPr sz="25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Schema Registry denied</a:t>
            </a:r>
          </a:p>
          <a:p>
            <a:pPr algn="l">
              <a:defRPr sz="25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SchemaGroupRead / SchemaRead</a:t>
            </a:r>
          </a:p>
        </p:txBody>
      </p:sp>
      <p:sp>
        <p:nvSpPr>
          <p:cNvPr id="11" name="symptom-right-body">
            <a:extLst>
              <a:ext uri="{FF2B5EF4-FFF2-40B4-BE49-F238E27FC236}">
                <a16:creationId xmlns:a16="http://schemas.microsoft.com/office/drawing/2014/main" id="{9C9AFE73-8487-4420-BB27-ED59D9DAC4C4}"/>
              </a:ext>
            </a:extLst>
          </p:cNvPr>
          <p:cNvSpPr>
            <a:spLocks noGrp="1"/>
          </p:cNvSpPr>
          <p:nvPr/>
        </p:nvSpPr>
        <p:spPr>
          <a:xfrm>
            <a:off x="6305550" y="4305300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38"/>
          </a:bodyPr>
          <a:lstStyle/>
          <a:p>
            <a:pPr algn="l">
              <a:defRPr sz="172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rejected Promise was not contained. It reached the runtime boundary, the main process exited with code 1, and the platform then restarted it.</a:t>
            </a:r>
          </a:p>
        </p:txBody>
      </p:sp>
    </p:spTree>
    <p:extLst>
      <p:ext uri="{BB962C8B-B14F-4D97-AF65-F5344CB8AC3E}">
        <p14:creationId xmlns:p14="http://schemas.microsoft.com/office/powerpoint/2010/main" val="167344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4">
            <a:extLst>
              <a:ext uri="{FF2B5EF4-FFF2-40B4-BE49-F238E27FC236}">
                <a16:creationId xmlns:a16="http://schemas.microsoft.com/office/drawing/2014/main" id="{484D3F3C-98DB-4D68-BB0A-E193FDA862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55210920-D2E0-42F0-88CB-68BB1545C901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Restarts repeated the defect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9094817D-B8FF-4657-893B-E2EA1F200587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4">
            <a:extLst>
              <a:ext uri="{FF2B5EF4-FFF2-40B4-BE49-F238E27FC236}">
                <a16:creationId xmlns:a16="http://schemas.microsoft.com/office/drawing/2014/main" id="{E10EC99B-F501-4C0C-B094-74DB63CC3386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meline-line">
            <a:extLst>
              <a:ext uri="{FF2B5EF4-FFF2-40B4-BE49-F238E27FC236}">
                <a16:creationId xmlns:a16="http://schemas.microsoft.com/office/drawing/2014/main" id="{794B92C2-AC1A-4582-ACC2-A32094CF4FA5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10287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imeline-label-108">
            <a:extLst>
              <a:ext uri="{FF2B5EF4-FFF2-40B4-BE49-F238E27FC236}">
                <a16:creationId xmlns:a16="http://schemas.microsoft.com/office/drawing/2014/main" id="{D34DF837-4F81-4AAD-973E-C0A58E52CCDE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T+0</a:t>
            </a:r>
          </a:p>
        </p:txBody>
      </p:sp>
      <p:sp>
        <p:nvSpPr>
          <p:cNvPr id="7" name="timeline-dot-108">
            <a:extLst>
              <a:ext uri="{FF2B5EF4-FFF2-40B4-BE49-F238E27FC236}">
                <a16:creationId xmlns:a16="http://schemas.microsoft.com/office/drawing/2014/main" id="{09E5BA29-4331-4B07-8E14-FEB2AACE9BA1}"/>
              </a:ext>
            </a:extLst>
          </p:cNvPr>
          <p:cNvSpPr>
            <a:spLocks noGrp="1"/>
          </p:cNvSpPr>
          <p:nvPr/>
        </p:nvSpPr>
        <p:spPr>
          <a:xfrm>
            <a:off x="1028700" y="3219450"/>
            <a:ext cx="247650" cy="247650"/>
          </a:xfrm>
          <a:prstGeom prst="ellipse">
            <a:avLst/>
          </a:prstGeom>
          <a:solidFill>
            <a:srgbClr val="0B0D10"/>
          </a:solidFill>
          <a:ln w="0">
            <a:solidFill>
              <a:srgbClr val="0B0D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imeline-title-108">
            <a:extLst>
              <a:ext uri="{FF2B5EF4-FFF2-40B4-BE49-F238E27FC236}">
                <a16:creationId xmlns:a16="http://schemas.microsoft.com/office/drawing/2014/main" id="{9D1F7FF1-CEFE-4F4A-884F-6E585FB6136B}"/>
              </a:ext>
            </a:extLst>
          </p:cNvPr>
          <p:cNvSpPr>
            <a:spLocks noGrp="1"/>
          </p:cNvSpPr>
          <p:nvPr/>
        </p:nvSpPr>
        <p:spPr>
          <a:xfrm>
            <a:off x="1028700" y="3771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Authorization rejected</a:t>
            </a:r>
          </a:p>
        </p:txBody>
      </p:sp>
      <p:sp>
        <p:nvSpPr>
          <p:cNvPr id="9" name="timeline-body-108">
            <a:extLst>
              <a:ext uri="{FF2B5EF4-FFF2-40B4-BE49-F238E27FC236}">
                <a16:creationId xmlns:a16="http://schemas.microsoft.com/office/drawing/2014/main" id="{745183CE-9933-4F07-B7DC-4D15CCE8CFFC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2838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schema read failed; the unhandled rejection was immediately followed by exit code 1.</a:t>
            </a:r>
          </a:p>
        </p:txBody>
      </p:sp>
      <p:sp>
        <p:nvSpPr>
          <p:cNvPr id="10" name="timeline-label-490">
            <a:extLst>
              <a:ext uri="{FF2B5EF4-FFF2-40B4-BE49-F238E27FC236}">
                <a16:creationId xmlns:a16="http://schemas.microsoft.com/office/drawing/2014/main" id="{15C4654C-2402-4A86-9F98-185E91F00F4E}"/>
              </a:ext>
            </a:extLst>
          </p:cNvPr>
          <p:cNvSpPr>
            <a:spLocks noGrp="1"/>
          </p:cNvSpPr>
          <p:nvPr/>
        </p:nvSpPr>
        <p:spPr>
          <a:xfrm>
            <a:off x="4667250" y="2686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T+minutes</a:t>
            </a:r>
          </a:p>
        </p:txBody>
      </p:sp>
      <p:sp>
        <p:nvSpPr>
          <p:cNvPr id="11" name="timeline-dot-490">
            <a:extLst>
              <a:ext uri="{FF2B5EF4-FFF2-40B4-BE49-F238E27FC236}">
                <a16:creationId xmlns:a16="http://schemas.microsoft.com/office/drawing/2014/main" id="{D0373766-DA21-4ED4-9FD9-7DEA6C3CF352}"/>
              </a:ext>
            </a:extLst>
          </p:cNvPr>
          <p:cNvSpPr>
            <a:spLocks noGrp="1"/>
          </p:cNvSpPr>
          <p:nvPr/>
        </p:nvSpPr>
        <p:spPr>
          <a:xfrm>
            <a:off x="4667250" y="3219450"/>
            <a:ext cx="247650" cy="247650"/>
          </a:xfrm>
          <a:prstGeom prst="ellipse">
            <a:avLst/>
          </a:prstGeom>
          <a:solidFill>
            <a:srgbClr val="0B0D10"/>
          </a:solidFill>
          <a:ln w="0">
            <a:solidFill>
              <a:srgbClr val="0B0D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imeline-title-490">
            <a:extLst>
              <a:ext uri="{FF2B5EF4-FFF2-40B4-BE49-F238E27FC236}">
                <a16:creationId xmlns:a16="http://schemas.microsoft.com/office/drawing/2014/main" id="{06C411A1-5A65-49E7-8049-F362D8C15D97}"/>
              </a:ext>
            </a:extLst>
          </p:cNvPr>
          <p:cNvSpPr>
            <a:spLocks noGrp="1"/>
          </p:cNvSpPr>
          <p:nvPr/>
        </p:nvSpPr>
        <p:spPr>
          <a:xfrm>
            <a:off x="4667250" y="3771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Restart loop</a:t>
            </a:r>
          </a:p>
        </p:txBody>
      </p:sp>
      <p:sp>
        <p:nvSpPr>
          <p:cNvPr id="13" name="timeline-body-490">
            <a:extLst>
              <a:ext uri="{FF2B5EF4-FFF2-40B4-BE49-F238E27FC236}">
                <a16:creationId xmlns:a16="http://schemas.microsoft.com/office/drawing/2014/main" id="{83177488-9CE1-440A-B427-B952828383D9}"/>
              </a:ext>
            </a:extLst>
          </p:cNvPr>
          <p:cNvSpPr>
            <a:spLocks noGrp="1"/>
          </p:cNvSpPr>
          <p:nvPr/>
        </p:nvSpPr>
        <p:spPr>
          <a:xfrm>
            <a:off x="4667250" y="4343400"/>
            <a:ext cx="2838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Fifteen more exits followed. Every exit minute carried the same paired signatures.</a:t>
            </a:r>
          </a:p>
        </p:txBody>
      </p:sp>
      <p:sp>
        <p:nvSpPr>
          <p:cNvPr id="14" name="timeline-label-872">
            <a:extLst>
              <a:ext uri="{FF2B5EF4-FFF2-40B4-BE49-F238E27FC236}">
                <a16:creationId xmlns:a16="http://schemas.microsoft.com/office/drawing/2014/main" id="{7468F6F0-7B26-47B1-941F-A220DFBA3F90}"/>
              </a:ext>
            </a:extLst>
          </p:cNvPr>
          <p:cNvSpPr>
            <a:spLocks noGrp="1"/>
          </p:cNvSpPr>
          <p:nvPr/>
        </p:nvSpPr>
        <p:spPr>
          <a:xfrm>
            <a:off x="8305800" y="2686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T+≈2h 40m</a:t>
            </a:r>
          </a:p>
        </p:txBody>
      </p:sp>
      <p:sp>
        <p:nvSpPr>
          <p:cNvPr id="15" name="timeline-dot-872">
            <a:extLst>
              <a:ext uri="{FF2B5EF4-FFF2-40B4-BE49-F238E27FC236}">
                <a16:creationId xmlns:a16="http://schemas.microsoft.com/office/drawing/2014/main" id="{70EFB90F-3FEF-4970-A970-A57F39E820A6}"/>
              </a:ext>
            </a:extLst>
          </p:cNvPr>
          <p:cNvSpPr>
            <a:spLocks noGrp="1"/>
          </p:cNvSpPr>
          <p:nvPr/>
        </p:nvSpPr>
        <p:spPr>
          <a:xfrm>
            <a:off x="8305800" y="3219450"/>
            <a:ext cx="247650" cy="247650"/>
          </a:xfrm>
          <a:prstGeom prst="ellipse">
            <a:avLst/>
          </a:prstGeom>
          <a:solidFill>
            <a:srgbClr val="0B0D10"/>
          </a:solidFill>
          <a:ln w="0">
            <a:solidFill>
              <a:srgbClr val="0B0D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imeline-title-872">
            <a:extLst>
              <a:ext uri="{FF2B5EF4-FFF2-40B4-BE49-F238E27FC236}">
                <a16:creationId xmlns:a16="http://schemas.microsoft.com/office/drawing/2014/main" id="{9393BEBE-81C6-4423-8C9C-D56CA4B9011A}"/>
              </a:ext>
            </a:extLst>
          </p:cNvPr>
          <p:cNvSpPr>
            <a:spLocks noGrp="1"/>
          </p:cNvSpPr>
          <p:nvPr/>
        </p:nvSpPr>
        <p:spPr>
          <a:xfrm>
            <a:off x="8305800" y="3771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Recovery activated</a:t>
            </a:r>
          </a:p>
        </p:txBody>
      </p:sp>
      <p:sp>
        <p:nvSpPr>
          <p:cNvPr id="17" name="timeline-body-872">
            <a:extLst>
              <a:ext uri="{FF2B5EF4-FFF2-40B4-BE49-F238E27FC236}">
                <a16:creationId xmlns:a16="http://schemas.microsoft.com/office/drawing/2014/main" id="{C63C3F72-E28D-4E34-B84E-85FB673A5D4E}"/>
              </a:ext>
            </a:extLst>
          </p:cNvPr>
          <p:cNvSpPr>
            <a:spLocks noGrp="1"/>
          </p:cNvSpPr>
          <p:nvPr/>
        </p:nvSpPr>
        <p:spPr>
          <a:xfrm>
            <a:off x="8305800" y="4343400"/>
            <a:ext cx="2838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 release explicitly selected managed identities. The following hour was clean.</a:t>
            </a:r>
          </a:p>
        </p:txBody>
      </p:sp>
    </p:spTree>
    <p:extLst>
      <p:ext uri="{BB962C8B-B14F-4D97-AF65-F5344CB8AC3E}">
        <p14:creationId xmlns:p14="http://schemas.microsoft.com/office/powerpoint/2010/main" val="37624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-5">
            <a:extLst>
              <a:ext uri="{FF2B5EF4-FFF2-40B4-BE49-F238E27FC236}">
                <a16:creationId xmlns:a16="http://schemas.microsoft.com/office/drawing/2014/main" id="{E854FD32-BD18-4EF1-989C-3F3D26796CD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02A44497-2340-4273-A79B-1D4C232D7E1E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 valid token entered the wrong authorization path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CC67FFCC-295D-471B-A859-1232D0C3E722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5">
            <a:extLst>
              <a:ext uri="{FF2B5EF4-FFF2-40B4-BE49-F238E27FC236}">
                <a16:creationId xmlns:a16="http://schemas.microsoft.com/office/drawing/2014/main" id="{45B72AD3-A236-4A64-B85C-54AA7BDD91BA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chain-node-env">
            <a:extLst>
              <a:ext uri="{FF2B5EF4-FFF2-40B4-BE49-F238E27FC236}">
                <a16:creationId xmlns:a16="http://schemas.microsoft.com/office/drawing/2014/main" id="{47BD95E1-BCB8-4D0B-BD05-3872BE365BFB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23622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hain-node-chain">
            <a:extLst>
              <a:ext uri="{FF2B5EF4-FFF2-40B4-BE49-F238E27FC236}">
                <a16:creationId xmlns:a16="http://schemas.microsoft.com/office/drawing/2014/main" id="{20940A97-306E-47C7-BCD9-A78B42C2FDD7}"/>
              </a:ext>
            </a:extLst>
          </p:cNvPr>
          <p:cNvSpPr>
            <a:spLocks noGrp="1"/>
          </p:cNvSpPr>
          <p:nvPr/>
        </p:nvSpPr>
        <p:spPr>
          <a:xfrm>
            <a:off x="3238500" y="2057400"/>
            <a:ext cx="23622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hain-node-token">
            <a:extLst>
              <a:ext uri="{FF2B5EF4-FFF2-40B4-BE49-F238E27FC236}">
                <a16:creationId xmlns:a16="http://schemas.microsoft.com/office/drawing/2014/main" id="{2F1238F1-6369-4D5E-9A0D-FC5B39AB4AD5}"/>
              </a:ext>
            </a:extLst>
          </p:cNvPr>
          <p:cNvSpPr>
            <a:spLocks noGrp="1"/>
          </p:cNvSpPr>
          <p:nvPr/>
        </p:nvSpPr>
        <p:spPr>
          <a:xfrm>
            <a:off x="6019800" y="2057400"/>
            <a:ext cx="23622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hain-node-deny">
            <a:extLst>
              <a:ext uri="{FF2B5EF4-FFF2-40B4-BE49-F238E27FC236}">
                <a16:creationId xmlns:a16="http://schemas.microsoft.com/office/drawing/2014/main" id="{3AD15E55-31E7-4537-BB46-8F1025B3D69C}"/>
              </a:ext>
            </a:extLst>
          </p:cNvPr>
          <p:cNvSpPr>
            <a:spLocks noGrp="1"/>
          </p:cNvSpPr>
          <p:nvPr/>
        </p:nvSpPr>
        <p:spPr>
          <a:xfrm>
            <a:off x="8801100" y="2057400"/>
            <a:ext cx="29337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hain-node-promise">
            <a:extLst>
              <a:ext uri="{FF2B5EF4-FFF2-40B4-BE49-F238E27FC236}">
                <a16:creationId xmlns:a16="http://schemas.microsoft.com/office/drawing/2014/main" id="{FF9270E5-E470-4106-B0B5-EA2112E515EC}"/>
              </a:ext>
            </a:extLst>
          </p:cNvPr>
          <p:cNvSpPr>
            <a:spLocks noGrp="1"/>
          </p:cNvSpPr>
          <p:nvPr/>
        </p:nvSpPr>
        <p:spPr>
          <a:xfrm>
            <a:off x="1847850" y="42481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chain-node-exit">
            <a:extLst>
              <a:ext uri="{FF2B5EF4-FFF2-40B4-BE49-F238E27FC236}">
                <a16:creationId xmlns:a16="http://schemas.microsoft.com/office/drawing/2014/main" id="{B844D7CB-8AD9-4187-A5CC-8E7ECDD903B6}"/>
              </a:ext>
            </a:extLst>
          </p:cNvPr>
          <p:cNvSpPr>
            <a:spLocks noGrp="1"/>
          </p:cNvSpPr>
          <p:nvPr/>
        </p:nvSpPr>
        <p:spPr>
          <a:xfrm>
            <a:off x="4857750" y="42481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hain-node-restart">
            <a:extLst>
              <a:ext uri="{FF2B5EF4-FFF2-40B4-BE49-F238E27FC236}">
                <a16:creationId xmlns:a16="http://schemas.microsoft.com/office/drawing/2014/main" id="{6D5F590B-6926-4F2A-AC8C-B577247D902A}"/>
              </a:ext>
            </a:extLst>
          </p:cNvPr>
          <p:cNvSpPr>
            <a:spLocks noGrp="1"/>
          </p:cNvSpPr>
          <p:nvPr/>
        </p:nvSpPr>
        <p:spPr>
          <a:xfrm>
            <a:off x="7867650" y="4248150"/>
            <a:ext cx="2857500" cy="1104900"/>
          </a:xfrm>
          <a:prstGeom prst="roundRect">
            <a:avLst>
              <a:gd name="adj" fmla="val 6897"/>
            </a:avLst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38" name="Straight Arrow Connector 37"/>
          <p:cNvCxnSpPr>
            <a:stCxn id="5" idx="3"/>
            <a:endCxn id="6" idx="1"/>
          </p:cNvCxnSpPr>
          <p:nvPr/>
        </p:nvCxnSpPr>
        <p:spPr>
          <a:xfrm>
            <a:off x="2819400" y="2609850"/>
            <a:ext cx="419100" cy="0"/>
          </a:xfrm>
          <a:prstGeom prst="straightConnector1">
            <a:avLst/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39" name="Straight Arrow Connector 38"/>
          <p:cNvCxnSpPr>
            <a:stCxn id="6" idx="3"/>
            <a:endCxn id="7" idx="1"/>
          </p:cNvCxnSpPr>
          <p:nvPr/>
        </p:nvCxnSpPr>
        <p:spPr>
          <a:xfrm>
            <a:off x="5600700" y="2609850"/>
            <a:ext cx="419100" cy="0"/>
          </a:xfrm>
          <a:prstGeom prst="straightConnector1">
            <a:avLst/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40" name="Straight Arrow Connector 39"/>
          <p:cNvCxnSpPr>
            <a:stCxn id="7" idx="3"/>
            <a:endCxn id="8" idx="1"/>
          </p:cNvCxnSpPr>
          <p:nvPr/>
        </p:nvCxnSpPr>
        <p:spPr>
          <a:xfrm>
            <a:off x="8382000" y="2609850"/>
            <a:ext cx="419100" cy="0"/>
          </a:xfrm>
          <a:prstGeom prst="straightConnector1">
            <a:avLst/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41" name="Connector: Elbow 40"/>
          <p:cNvCxnSpPr>
            <a:stCxn id="8" idx="2"/>
            <a:endCxn id="9" idx="0"/>
          </p:cNvCxnSpPr>
          <p:nvPr/>
        </p:nvCxnSpPr>
        <p:spPr>
          <a:xfrm flipH="1">
            <a:off x="3086100" y="3162300"/>
            <a:ext cx="7181850" cy="1085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42" name="Straight Arrow Connector 41"/>
          <p:cNvCxnSpPr>
            <a:stCxn id="9" idx="3"/>
            <a:endCxn id="10" idx="1"/>
          </p:cNvCxnSpPr>
          <p:nvPr/>
        </p:nvCxnSpPr>
        <p:spPr>
          <a:xfrm>
            <a:off x="4324350" y="4800600"/>
            <a:ext cx="533400" cy="0"/>
          </a:xfrm>
          <a:prstGeom prst="straightConnector1">
            <a:avLst/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43" name="Straight Arrow Connector 42"/>
          <p:cNvCxnSpPr>
            <a:stCxn id="10" idx="3"/>
            <a:endCxn id="11" idx="1"/>
          </p:cNvCxnSpPr>
          <p:nvPr/>
        </p:nvCxnSpPr>
        <p:spPr>
          <a:xfrm>
            <a:off x="7334250" y="4800600"/>
            <a:ext cx="533400" cy="0"/>
          </a:xfrm>
          <a:prstGeom prst="straightConnector1">
            <a:avLst/>
          </a:prstGeom>
          <a:ln w="19050">
            <a:solidFill>
              <a:srgbClr val="0B0D10"/>
            </a:solidFill>
            <a:prstDash val="solid"/>
            <a:tailEnd type="arrow" w="med" len="med"/>
          </a:ln>
        </p:spPr>
      </p:cxnSp>
      <p:cxnSp>
        <p:nvCxnSpPr>
          <p:cNvPr id="44" name="Connector: Curved 43"/>
          <p:cNvCxnSpPr>
            <a:cxnSpLocks/>
            <a:stCxn id="11" idx="0"/>
            <a:endCxn id="6" idx="2"/>
          </p:cNvCxnSpPr>
          <p:nvPr/>
        </p:nvCxnSpPr>
        <p:spPr>
          <a:xfrm rot="16200000" flipH="1">
            <a:off x="6315075" y="1266825"/>
            <a:ext cx="1085850" cy="4876800"/>
          </a:xfrm>
          <a:prstGeom prst="curvedConnector3">
            <a:avLst>
              <a:gd name="adj1" fmla="val 13051"/>
            </a:avLst>
          </a:prstGeom>
          <a:ln w="19050">
            <a:solidFill>
              <a:srgbClr val="1557B0"/>
            </a:solidFill>
            <a:prstDash val="dash"/>
            <a:tailEnd type="arrow" w="med" len="med"/>
          </a:ln>
        </p:spPr>
      </p:cxnSp>
      <p:sp>
        <p:nvSpPr>
          <p:cNvPr id="19" name="chain-label-env">
            <a:extLst>
              <a:ext uri="{FF2B5EF4-FFF2-40B4-BE49-F238E27FC236}">
                <a16:creationId xmlns:a16="http://schemas.microsoft.com/office/drawing/2014/main" id="{141079C1-C383-4A29-9A2D-D8F29EB5625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909"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Environment credential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is available</a:t>
            </a:r>
          </a:p>
        </p:txBody>
      </p:sp>
      <p:sp>
        <p:nvSpPr>
          <p:cNvPr id="20" name="chain-label-chain">
            <a:extLst>
              <a:ext uri="{FF2B5EF4-FFF2-40B4-BE49-F238E27FC236}">
                <a16:creationId xmlns:a16="http://schemas.microsoft.com/office/drawing/2014/main" id="{62729544-A0E7-4505-900C-7A753B628130}"/>
              </a:ext>
            </a:extLst>
          </p:cNvPr>
          <p:cNvSpPr>
            <a:spLocks noGrp="1"/>
          </p:cNvSpPr>
          <p:nvPr/>
        </p:nvSpPr>
        <p:spPr>
          <a:xfrm>
            <a:off x="3390900" y="230505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909"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Default chain selects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first successful credential</a:t>
            </a:r>
          </a:p>
        </p:txBody>
      </p:sp>
      <p:sp>
        <p:nvSpPr>
          <p:cNvPr id="21" name="chain-label-token">
            <a:extLst>
              <a:ext uri="{FF2B5EF4-FFF2-40B4-BE49-F238E27FC236}">
                <a16:creationId xmlns:a16="http://schemas.microsoft.com/office/drawing/2014/main" id="{FC71B079-FE76-4F7A-B63E-0CD249AB311E}"/>
              </a:ext>
            </a:extLst>
          </p:cNvPr>
          <p:cNvSpPr>
            <a:spLocks noGrp="1"/>
          </p:cNvSpPr>
          <p:nvPr/>
        </p:nvSpPr>
        <p:spPr>
          <a:xfrm>
            <a:off x="6172200" y="230505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Identity provider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issues a valid token</a:t>
            </a:r>
          </a:p>
        </p:txBody>
      </p:sp>
      <p:sp>
        <p:nvSpPr>
          <p:cNvPr id="22" name="chain-label-deny">
            <a:extLst>
              <a:ext uri="{FF2B5EF4-FFF2-40B4-BE49-F238E27FC236}">
                <a16:creationId xmlns:a16="http://schemas.microsoft.com/office/drawing/2014/main" id="{35D9295F-2A40-483B-A31D-0B64478C6949}"/>
              </a:ext>
            </a:extLst>
          </p:cNvPr>
          <p:cNvSpPr>
            <a:spLocks noGrp="1"/>
          </p:cNvSpPr>
          <p:nvPr/>
        </p:nvSpPr>
        <p:spPr>
          <a:xfrm>
            <a:off x="8953500" y="2305050"/>
            <a:ext cx="2628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Target service denies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required data action</a:t>
            </a:r>
          </a:p>
        </p:txBody>
      </p:sp>
      <p:sp>
        <p:nvSpPr>
          <p:cNvPr id="23" name="chain-label-promise">
            <a:extLst>
              <a:ext uri="{FF2B5EF4-FFF2-40B4-BE49-F238E27FC236}">
                <a16:creationId xmlns:a16="http://schemas.microsoft.com/office/drawing/2014/main" id="{3F310E01-2F34-4165-975B-421CDCC8FB77}"/>
              </a:ext>
            </a:extLst>
          </p:cNvPr>
          <p:cNvSpPr>
            <a:spLocks noGrp="1"/>
          </p:cNvSpPr>
          <p:nvPr/>
        </p:nvSpPr>
        <p:spPr>
          <a:xfrm>
            <a:off x="2000250" y="449580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Rejected Promise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is not contained</a:t>
            </a:r>
          </a:p>
        </p:txBody>
      </p:sp>
      <p:sp>
        <p:nvSpPr>
          <p:cNvPr id="24" name="chain-label-exit">
            <a:extLst>
              <a:ext uri="{FF2B5EF4-FFF2-40B4-BE49-F238E27FC236}">
                <a16:creationId xmlns:a16="http://schemas.microsoft.com/office/drawing/2014/main" id="{4341A24A-FBE5-4416-9364-3CE677ECAAB9}"/>
              </a:ext>
            </a:extLst>
          </p:cNvPr>
          <p:cNvSpPr>
            <a:spLocks noGrp="1"/>
          </p:cNvSpPr>
          <p:nvPr/>
        </p:nvSpPr>
        <p:spPr>
          <a:xfrm>
            <a:off x="5010150" y="449580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Main process exits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with code 1</a:t>
            </a:r>
          </a:p>
        </p:txBody>
      </p:sp>
      <p:sp>
        <p:nvSpPr>
          <p:cNvPr id="25" name="chain-label-restart">
            <a:extLst>
              <a:ext uri="{FF2B5EF4-FFF2-40B4-BE49-F238E27FC236}">
                <a16:creationId xmlns:a16="http://schemas.microsoft.com/office/drawing/2014/main" id="{8DEA1D10-BB60-4389-80D2-85D43625329F}"/>
              </a:ext>
            </a:extLst>
          </p:cNvPr>
          <p:cNvSpPr>
            <a:spLocks noGrp="1"/>
          </p:cNvSpPr>
          <p:nvPr/>
        </p:nvSpPr>
        <p:spPr>
          <a:xfrm>
            <a:off x="8020050" y="4495800"/>
            <a:ext cx="2552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Platform restarts</a:t>
            </a:r>
          </a:p>
          <a:p>
            <a:pPr algn="ctr">
              <a:defRPr sz="16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the same state</a:t>
            </a:r>
          </a:p>
        </p:txBody>
      </p:sp>
      <p:sp>
        <p:nvSpPr>
          <p:cNvPr id="26" name="chain-loop-label">
            <a:extLst>
              <a:ext uri="{FF2B5EF4-FFF2-40B4-BE49-F238E27FC236}">
                <a16:creationId xmlns:a16="http://schemas.microsoft.com/office/drawing/2014/main" id="{A09F3081-4F97-4F3E-967B-DDF3FF56EBAB}"/>
              </a:ext>
            </a:extLst>
          </p:cNvPr>
          <p:cNvSpPr>
            <a:spLocks noGrp="1"/>
          </p:cNvSpPr>
          <p:nvPr/>
        </p:nvSpPr>
        <p:spPr>
          <a:xfrm>
            <a:off x="6000750" y="387667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557B0"/>
                </a:solidFill>
                <a:latin typeface="Arial"/>
                <a:ea typeface="Arial"/>
                <a:cs typeface="Arial"/>
              </a:rPr>
              <a:t>unchanged credential + code path</a:t>
            </a:r>
          </a:p>
        </p:txBody>
      </p:sp>
    </p:spTree>
    <p:extLst>
      <p:ext uri="{BB962C8B-B14F-4D97-AF65-F5344CB8AC3E}">
        <p14:creationId xmlns:p14="http://schemas.microsoft.com/office/powerpoint/2010/main" val="139490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6">
            <a:extLst>
              <a:ext uri="{FF2B5EF4-FFF2-40B4-BE49-F238E27FC236}">
                <a16:creationId xmlns:a16="http://schemas.microsoft.com/office/drawing/2014/main" id="{F6A2C00C-A4BE-4994-B500-EBBA95C7EB2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79595400-9CE3-4835-A9D8-49AB6E053CA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 valid token ended credential fallback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BFC12455-C9EB-4FC6-B7AF-08F63CA0FCC4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6">
            <a:extLst>
              <a:ext uri="{FF2B5EF4-FFF2-40B4-BE49-F238E27FC236}">
                <a16:creationId xmlns:a16="http://schemas.microsoft.com/office/drawing/2014/main" id="{7D575842-394A-4F9C-8434-4B292FFCA15A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credential-intro">
            <a:extLst>
              <a:ext uri="{FF2B5EF4-FFF2-40B4-BE49-F238E27FC236}">
                <a16:creationId xmlns:a16="http://schemas.microsoft.com/office/drawing/2014/main" id="{249A91E3-74F8-42FE-BB40-87091DE9F101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behavior looked random only because each new process reran the same initialization. The credential chain itself followed a defined order.</a:t>
            </a:r>
          </a:p>
        </p:txBody>
      </p:sp>
      <p:sp>
        <p:nvSpPr>
          <p:cNvPr id="6" name="cred-card-0">
            <a:extLst>
              <a:ext uri="{FF2B5EF4-FFF2-40B4-BE49-F238E27FC236}">
                <a16:creationId xmlns:a16="http://schemas.microsoft.com/office/drawing/2014/main" id="{69239C58-B030-4AAE-A80D-2457280F1A08}"/>
              </a:ext>
            </a:extLst>
          </p:cNvPr>
          <p:cNvSpPr>
            <a:spLocks noGrp="1"/>
          </p:cNvSpPr>
          <p:nvPr/>
        </p:nvSpPr>
        <p:spPr>
          <a:xfrm>
            <a:off x="457200" y="2781300"/>
            <a:ext cx="2514600" cy="21907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red-num-0">
            <a:extLst>
              <a:ext uri="{FF2B5EF4-FFF2-40B4-BE49-F238E27FC236}">
                <a16:creationId xmlns:a16="http://schemas.microsoft.com/office/drawing/2014/main" id="{B0BC8099-4A7D-4A97-A063-BF6DB759F14B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cred-title-0">
            <a:extLst>
              <a:ext uri="{FF2B5EF4-FFF2-40B4-BE49-F238E27FC236}">
                <a16:creationId xmlns:a16="http://schemas.microsoft.com/office/drawing/2014/main" id="{51DC0A68-DEC0-46FE-8B54-407280DDCA1E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38"/>
          </a:bodyPr>
          <a:lstStyle/>
          <a:p>
            <a:pPr algn="l">
              <a:defRPr sz="19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Environment credential</a:t>
            </a:r>
          </a:p>
        </p:txBody>
      </p:sp>
      <p:sp>
        <p:nvSpPr>
          <p:cNvPr id="9" name="cred-body-0">
            <a:extLst>
              <a:ext uri="{FF2B5EF4-FFF2-40B4-BE49-F238E27FC236}">
                <a16:creationId xmlns:a16="http://schemas.microsoft.com/office/drawing/2014/main" id="{CA00092B-9449-4A0E-A8DF-07BFBFB5AD8A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6023"/>
          </a:bodyPr>
          <a:lstStyle/>
          <a:p>
            <a:pPr algn="l">
              <a:defRPr sz="142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 complete secret-backed credential was available to the workload.</a:t>
            </a:r>
          </a:p>
        </p:txBody>
      </p:sp>
      <p:sp>
        <p:nvSpPr>
          <p:cNvPr id="10" name="cred-arrow-0">
            <a:extLst>
              <a:ext uri="{FF2B5EF4-FFF2-40B4-BE49-F238E27FC236}">
                <a16:creationId xmlns:a16="http://schemas.microsoft.com/office/drawing/2014/main" id="{BA408E4C-B36A-45AA-B24D-0715D24B512E}"/>
              </a:ext>
            </a:extLst>
          </p:cNvPr>
          <p:cNvSpPr>
            <a:spLocks noGrp="1"/>
          </p:cNvSpPr>
          <p:nvPr/>
        </p:nvSpPr>
        <p:spPr>
          <a:xfrm>
            <a:off x="3048000" y="354330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000" b="0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57B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cred-card-1">
            <a:extLst>
              <a:ext uri="{FF2B5EF4-FFF2-40B4-BE49-F238E27FC236}">
                <a16:creationId xmlns:a16="http://schemas.microsoft.com/office/drawing/2014/main" id="{6FA0B0AA-4052-43F9-BC26-974B63D832FE}"/>
              </a:ext>
            </a:extLst>
          </p:cNvPr>
          <p:cNvSpPr>
            <a:spLocks noGrp="1"/>
          </p:cNvSpPr>
          <p:nvPr/>
        </p:nvSpPr>
        <p:spPr>
          <a:xfrm>
            <a:off x="3333750" y="2781300"/>
            <a:ext cx="2514600" cy="21907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red-num-1">
            <a:extLst>
              <a:ext uri="{FF2B5EF4-FFF2-40B4-BE49-F238E27FC236}">
                <a16:creationId xmlns:a16="http://schemas.microsoft.com/office/drawing/2014/main" id="{4CD08C76-AB79-472E-A96D-B87F0396304F}"/>
              </a:ext>
            </a:extLst>
          </p:cNvPr>
          <p:cNvSpPr>
            <a:spLocks noGrp="1"/>
          </p:cNvSpPr>
          <p:nvPr/>
        </p:nvSpPr>
        <p:spPr>
          <a:xfrm>
            <a:off x="3543300" y="30099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cred-title-1">
            <a:extLst>
              <a:ext uri="{FF2B5EF4-FFF2-40B4-BE49-F238E27FC236}">
                <a16:creationId xmlns:a16="http://schemas.microsoft.com/office/drawing/2014/main" id="{EDDB011D-C170-4165-B1AF-AE89B08CEC18}"/>
              </a:ext>
            </a:extLst>
          </p:cNvPr>
          <p:cNvSpPr>
            <a:spLocks noGrp="1"/>
          </p:cNvSpPr>
          <p:nvPr/>
        </p:nvSpPr>
        <p:spPr>
          <a:xfrm>
            <a:off x="3543300" y="36576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Token acquisition</a:t>
            </a:r>
          </a:p>
        </p:txBody>
      </p:sp>
      <p:sp>
        <p:nvSpPr>
          <p:cNvPr id="14" name="cred-body-1">
            <a:extLst>
              <a:ext uri="{FF2B5EF4-FFF2-40B4-BE49-F238E27FC236}">
                <a16:creationId xmlns:a16="http://schemas.microsoft.com/office/drawing/2014/main" id="{5AAAA278-25BC-4897-864D-366366ECE290}"/>
              </a:ext>
            </a:extLst>
          </p:cNvPr>
          <p:cNvSpPr>
            <a:spLocks noGrp="1"/>
          </p:cNvSpPr>
          <p:nvPr/>
        </p:nvSpPr>
        <p:spPr>
          <a:xfrm>
            <a:off x="3543300" y="43243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066"/>
          </a:bodyPr>
          <a:lstStyle/>
          <a:p>
            <a:pPr algn="l">
              <a:defRPr sz="142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Authentication succeeded, so the default chain returned the token.</a:t>
            </a:r>
          </a:p>
        </p:txBody>
      </p:sp>
      <p:sp>
        <p:nvSpPr>
          <p:cNvPr id="15" name="cred-arrow-1">
            <a:extLst>
              <a:ext uri="{FF2B5EF4-FFF2-40B4-BE49-F238E27FC236}">
                <a16:creationId xmlns:a16="http://schemas.microsoft.com/office/drawing/2014/main" id="{0CFB3F32-B952-4775-A0F1-20297EA25C7C}"/>
              </a:ext>
            </a:extLst>
          </p:cNvPr>
          <p:cNvSpPr>
            <a:spLocks noGrp="1"/>
          </p:cNvSpPr>
          <p:nvPr/>
        </p:nvSpPr>
        <p:spPr>
          <a:xfrm>
            <a:off x="5924550" y="3543300"/>
            <a:ext cx="609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000" b="0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57B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cred-card-2">
            <a:extLst>
              <a:ext uri="{FF2B5EF4-FFF2-40B4-BE49-F238E27FC236}">
                <a16:creationId xmlns:a16="http://schemas.microsoft.com/office/drawing/2014/main" id="{FF69A08C-6658-42D1-BDD9-44328BC0FC46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514600" cy="21907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red-num-2">
            <a:extLst>
              <a:ext uri="{FF2B5EF4-FFF2-40B4-BE49-F238E27FC236}">
                <a16:creationId xmlns:a16="http://schemas.microsoft.com/office/drawing/2014/main" id="{4A0C27A1-9C11-4C11-8C22-51CFF48F1C45}"/>
              </a:ext>
            </a:extLst>
          </p:cNvPr>
          <p:cNvSpPr>
            <a:spLocks noGrp="1"/>
          </p:cNvSpPr>
          <p:nvPr/>
        </p:nvSpPr>
        <p:spPr>
          <a:xfrm>
            <a:off x="6419850" y="30099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red-title-2">
            <a:extLst>
              <a:ext uri="{FF2B5EF4-FFF2-40B4-BE49-F238E27FC236}">
                <a16:creationId xmlns:a16="http://schemas.microsoft.com/office/drawing/2014/main" id="{4EFA37FF-E7D7-4426-89C9-C97BA4AD1101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38"/>
          </a:bodyPr>
          <a:lstStyle/>
          <a:p>
            <a:pPr algn="l">
              <a:defRPr sz="19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Managed identity skipped</a:t>
            </a:r>
          </a:p>
        </p:txBody>
      </p:sp>
      <p:sp>
        <p:nvSpPr>
          <p:cNvPr id="19" name="cred-body-2">
            <a:extLst>
              <a:ext uri="{FF2B5EF4-FFF2-40B4-BE49-F238E27FC236}">
                <a16:creationId xmlns:a16="http://schemas.microsoft.com/office/drawing/2014/main" id="{7796058B-42F7-493A-8195-1750BE7C1F40}"/>
              </a:ext>
            </a:extLst>
          </p:cNvPr>
          <p:cNvSpPr>
            <a:spLocks noGrp="1"/>
          </p:cNvSpPr>
          <p:nvPr/>
        </p:nvSpPr>
        <p:spPr>
          <a:xfrm>
            <a:off x="6419850" y="43243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6023"/>
          </a:bodyPr>
          <a:lstStyle/>
          <a:p>
            <a:pPr algn="l">
              <a:defRPr sz="142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chain did not continue because token acquisition had not failed.</a:t>
            </a:r>
          </a:p>
        </p:txBody>
      </p:sp>
      <p:sp>
        <p:nvSpPr>
          <p:cNvPr id="20" name="authorization-callout">
            <a:extLst>
              <a:ext uri="{FF2B5EF4-FFF2-40B4-BE49-F238E27FC236}">
                <a16:creationId xmlns:a16="http://schemas.microsoft.com/office/drawing/2014/main" id="{F79FF48D-81DF-4324-B093-79700F67FEBF}"/>
              </a:ext>
            </a:extLst>
          </p:cNvPr>
          <p:cNvSpPr>
            <a:spLocks noGrp="1"/>
          </p:cNvSpPr>
          <p:nvPr/>
        </p:nvSpPr>
        <p:spPr>
          <a:xfrm>
            <a:off x="9086850" y="2781300"/>
            <a:ext cx="2647950" cy="2190750"/>
          </a:xfrm>
          <a:prstGeom prst="rect">
            <a:avLst/>
          </a:prstGeom>
          <a:solidFill>
            <a:srgbClr val="EAF5FF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authorization-title">
            <a:extLst>
              <a:ext uri="{FF2B5EF4-FFF2-40B4-BE49-F238E27FC236}">
                <a16:creationId xmlns:a16="http://schemas.microsoft.com/office/drawing/2014/main" id="{451EC7EF-F9DC-4862-B1B3-735A4464B0DA}"/>
              </a:ext>
            </a:extLst>
          </p:cNvPr>
          <p:cNvSpPr>
            <a:spLocks noGrp="1"/>
          </p:cNvSpPr>
          <p:nvPr/>
        </p:nvSpPr>
        <p:spPr>
          <a:xfrm>
            <a:off x="9334500" y="3028950"/>
            <a:ext cx="21526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55"/>
          </a:bodyPr>
          <a:lstStyle/>
          <a:p>
            <a:pPr algn="l">
              <a:defRPr sz="21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Authorization is a separate decision</a:t>
            </a:r>
          </a:p>
        </p:txBody>
      </p:sp>
      <p:sp>
        <p:nvSpPr>
          <p:cNvPr id="22" name="authorization-body">
            <a:extLst>
              <a:ext uri="{FF2B5EF4-FFF2-40B4-BE49-F238E27FC236}">
                <a16:creationId xmlns:a16="http://schemas.microsoft.com/office/drawing/2014/main" id="{58E13661-7EB8-4F81-AA6E-1F6A65FB46AD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152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000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target service accepted the token’s issuer but denied the principal’s data-plane action. That denial does not trigger credential fallback.</a:t>
            </a:r>
          </a:p>
        </p:txBody>
      </p:sp>
      <p:sp>
        <p:nvSpPr>
          <p:cNvPr id="23" name="credential-lesson">
            <a:extLst>
              <a:ext uri="{FF2B5EF4-FFF2-40B4-BE49-F238E27FC236}">
                <a16:creationId xmlns:a16="http://schemas.microsoft.com/office/drawing/2014/main" id="{277C311F-891D-4D87-9FD8-D9E50E88DD78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11277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Token issued  ≠  resource authorized</a:t>
            </a:r>
          </a:p>
        </p:txBody>
      </p:sp>
    </p:spTree>
    <p:extLst>
      <p:ext uri="{BB962C8B-B14F-4D97-AF65-F5344CB8AC3E}">
        <p14:creationId xmlns:p14="http://schemas.microsoft.com/office/powerpoint/2010/main" val="172266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7">
            <a:extLst>
              <a:ext uri="{FF2B5EF4-FFF2-40B4-BE49-F238E27FC236}">
                <a16:creationId xmlns:a16="http://schemas.microsoft.com/office/drawing/2014/main" id="{6E5BD119-D187-4AD2-93F2-A568E03F80B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A3D0794-0729-4E95-BB9F-12700C19626F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Four evidence streams isolated the cause</a:t>
            </a:r>
          </a:p>
        </p:txBody>
      </p:sp>
      <p:sp>
        <p:nvSpPr>
          <p:cNvPr id="3" name="title-rule-7">
            <a:extLst>
              <a:ext uri="{FF2B5EF4-FFF2-40B4-BE49-F238E27FC236}">
                <a16:creationId xmlns:a16="http://schemas.microsoft.com/office/drawing/2014/main" id="{91768D43-62C8-4646-AC1E-F1799C781AEC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7">
            <a:extLst>
              <a:ext uri="{FF2B5EF4-FFF2-40B4-BE49-F238E27FC236}">
                <a16:creationId xmlns:a16="http://schemas.microsoft.com/office/drawing/2014/main" id="{E7819F90-B869-41C3-8E68-A872C31CB789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evidence-48-202">
            <a:extLst>
              <a:ext uri="{FF2B5EF4-FFF2-40B4-BE49-F238E27FC236}">
                <a16:creationId xmlns:a16="http://schemas.microsoft.com/office/drawing/2014/main" id="{32B53657-8364-4929-BAE4-507F3052D53F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5238750" cy="175260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evidence-title-48-202">
            <a:extLst>
              <a:ext uri="{FF2B5EF4-FFF2-40B4-BE49-F238E27FC236}">
                <a16:creationId xmlns:a16="http://schemas.microsoft.com/office/drawing/2014/main" id="{97422C79-5213-42E8-8578-31ACD946380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Platform lifecycle</a:t>
            </a:r>
          </a:p>
        </p:txBody>
      </p:sp>
      <p:sp>
        <p:nvSpPr>
          <p:cNvPr id="7" name="evidence-body-48-202">
            <a:extLst>
              <a:ext uri="{FF2B5EF4-FFF2-40B4-BE49-F238E27FC236}">
                <a16:creationId xmlns:a16="http://schemas.microsoft.com/office/drawing/2014/main" id="{CEC159B8-B4BC-46CC-8638-D2776B3142CC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Exit code 1 occurred before each platform restart. The platform reacted to failure; it did not initiate the first restart.</a:t>
            </a:r>
          </a:p>
        </p:txBody>
      </p:sp>
      <p:sp>
        <p:nvSpPr>
          <p:cNvPr id="8" name="evidence-632-202">
            <a:extLst>
              <a:ext uri="{FF2B5EF4-FFF2-40B4-BE49-F238E27FC236}">
                <a16:creationId xmlns:a16="http://schemas.microsoft.com/office/drawing/2014/main" id="{ABE8BCE2-D9F4-4B46-BF63-7C56DB2524A5}"/>
              </a:ext>
            </a:extLst>
          </p:cNvPr>
          <p:cNvSpPr>
            <a:spLocks noGrp="1"/>
          </p:cNvSpPr>
          <p:nvPr/>
        </p:nvSpPr>
        <p:spPr>
          <a:xfrm>
            <a:off x="6019800" y="1924050"/>
            <a:ext cx="5238750" cy="1752600"/>
          </a:xfrm>
          <a:prstGeom prst="rect">
            <a:avLst/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evidence-title-632-202">
            <a:extLst>
              <a:ext uri="{FF2B5EF4-FFF2-40B4-BE49-F238E27FC236}">
                <a16:creationId xmlns:a16="http://schemas.microsoft.com/office/drawing/2014/main" id="{BC125AA7-D5B4-49FA-9373-7750403A1859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Application signatures</a:t>
            </a:r>
          </a:p>
        </p:txBody>
      </p:sp>
      <p:sp>
        <p:nvSpPr>
          <p:cNvPr id="10" name="evidence-body-632-202">
            <a:extLst>
              <a:ext uri="{FF2B5EF4-FFF2-40B4-BE49-F238E27FC236}">
                <a16:creationId xmlns:a16="http://schemas.microsoft.com/office/drawing/2014/main" id="{40A05CE8-CB57-4047-A583-821DE825B37C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Every exit minute paired the Schema Registry authorization error with an unhandled Promise signature.</a:t>
            </a:r>
          </a:p>
        </p:txBody>
      </p:sp>
      <p:sp>
        <p:nvSpPr>
          <p:cNvPr id="11" name="evidence-48-416">
            <a:extLst>
              <a:ext uri="{FF2B5EF4-FFF2-40B4-BE49-F238E27FC236}">
                <a16:creationId xmlns:a16="http://schemas.microsoft.com/office/drawing/2014/main" id="{05DD4678-42C5-4496-BBB5-9D338914B703}"/>
              </a:ext>
            </a:extLst>
          </p:cNvPr>
          <p:cNvSpPr>
            <a:spLocks noGrp="1"/>
          </p:cNvSpPr>
          <p:nvPr/>
        </p:nvSpPr>
        <p:spPr>
          <a:xfrm>
            <a:off x="457200" y="3962400"/>
            <a:ext cx="5238750" cy="1752600"/>
          </a:xfrm>
          <a:prstGeom prst="rect">
            <a:avLst/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evidence-title-48-416">
            <a:extLst>
              <a:ext uri="{FF2B5EF4-FFF2-40B4-BE49-F238E27FC236}">
                <a16:creationId xmlns:a16="http://schemas.microsoft.com/office/drawing/2014/main" id="{E0C25B81-280C-41D1-80A4-4AE69AD1A586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Identity + RBAC</a:t>
            </a:r>
          </a:p>
        </p:txBody>
      </p:sp>
      <p:sp>
        <p:nvSpPr>
          <p:cNvPr id="13" name="evidence-body-48-416">
            <a:extLst>
              <a:ext uri="{FF2B5EF4-FFF2-40B4-BE49-F238E27FC236}">
                <a16:creationId xmlns:a16="http://schemas.microsoft.com/office/drawing/2014/main" id="{D36E9255-0898-4FF7-A0B9-191570E5CE8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 service principal obtained tokens but lacked the required data action. The intended managed identity was already authorized.</a:t>
            </a:r>
          </a:p>
        </p:txBody>
      </p:sp>
      <p:sp>
        <p:nvSpPr>
          <p:cNvPr id="14" name="evidence-632-416">
            <a:extLst>
              <a:ext uri="{FF2B5EF4-FFF2-40B4-BE49-F238E27FC236}">
                <a16:creationId xmlns:a16="http://schemas.microsoft.com/office/drawing/2014/main" id="{9EDCE2C2-B824-43DE-A40B-39092F12DE4B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5238750" cy="175260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evidence-title-632-416">
            <a:extLst>
              <a:ext uri="{FF2B5EF4-FFF2-40B4-BE49-F238E27FC236}">
                <a16:creationId xmlns:a16="http://schemas.microsoft.com/office/drawing/2014/main" id="{97E499A3-FF4A-4F13-9164-4BFF37F61578}"/>
              </a:ext>
            </a:extLst>
          </p:cNvPr>
          <p:cNvSpPr>
            <a:spLocks noGrp="1"/>
          </p:cNvSpPr>
          <p:nvPr/>
        </p:nvSpPr>
        <p:spPr>
          <a:xfrm>
            <a:off x="6248400" y="4171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Metrics + control plane</a:t>
            </a:r>
          </a:p>
        </p:txBody>
      </p:sp>
      <p:sp>
        <p:nvSpPr>
          <p:cNvPr id="16" name="evidence-body-632-416">
            <a:extLst>
              <a:ext uri="{FF2B5EF4-FFF2-40B4-BE49-F238E27FC236}">
                <a16:creationId xmlns:a16="http://schemas.microsoft.com/office/drawing/2014/main" id="{3A422DE7-1C40-4387-A38E-A5A54D65163A}"/>
              </a:ext>
            </a:extLst>
          </p:cNvPr>
          <p:cNvSpPr>
            <a:spLocks noGrp="1"/>
          </p:cNvSpPr>
          <p:nvPr/>
        </p:nvSpPr>
        <p:spPr>
          <a:xfrm>
            <a:off x="6248400" y="468630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Capacity was not exhausted before the first exit, and no deployment, restart, RBAC, identity, or scale change preceded it.</a:t>
            </a:r>
          </a:p>
        </p:txBody>
      </p:sp>
    </p:spTree>
    <p:extLst>
      <p:ext uri="{BB962C8B-B14F-4D97-AF65-F5344CB8AC3E}">
        <p14:creationId xmlns:p14="http://schemas.microsoft.com/office/powerpoint/2010/main" val="24251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8">
            <a:extLst>
              <a:ext uri="{FF2B5EF4-FFF2-40B4-BE49-F238E27FC236}">
                <a16:creationId xmlns:a16="http://schemas.microsoft.com/office/drawing/2014/main" id="{CFF26C3F-5E4E-4CAE-AABE-08F72B83AE3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670127CB-E631-4695-91D9-0D0E278B8F0B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Explicit credentials fixed the loop</a:t>
            </a:r>
          </a:p>
        </p:txBody>
      </p:sp>
      <p:sp>
        <p:nvSpPr>
          <p:cNvPr id="3" name="title-rule-8">
            <a:extLst>
              <a:ext uri="{FF2B5EF4-FFF2-40B4-BE49-F238E27FC236}">
                <a16:creationId xmlns:a16="http://schemas.microsoft.com/office/drawing/2014/main" id="{E7A76816-A957-484E-98CF-C44C0A8E476C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8">
            <a:extLst>
              <a:ext uri="{FF2B5EF4-FFF2-40B4-BE49-F238E27FC236}">
                <a16:creationId xmlns:a16="http://schemas.microsoft.com/office/drawing/2014/main" id="{6C90AFE4-2BAC-4A72-9F3B-E09684B5DD6A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overy-change">
            <a:extLst>
              <a:ext uri="{FF2B5EF4-FFF2-40B4-BE49-F238E27FC236}">
                <a16:creationId xmlns:a16="http://schemas.microsoft.com/office/drawing/2014/main" id="{32E549AA-F56B-473E-8B3E-C3EB000E6D54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The recovery release replaced the ambient default chain with dependency-specific ManagedIdentityCredential instances: one for schema access and one for event publishing.</a:t>
            </a:r>
          </a:p>
        </p:txBody>
      </p:sp>
      <p:sp>
        <p:nvSpPr>
          <p:cNvPr id="6" name="metric-bg-48">
            <a:extLst>
              <a:ext uri="{FF2B5EF4-FFF2-40B4-BE49-F238E27FC236}">
                <a16:creationId xmlns:a16="http://schemas.microsoft.com/office/drawing/2014/main" id="{9AF70EA2-83C5-4810-AED7-2598AEB73C22}"/>
              </a:ext>
            </a:extLst>
          </p:cNvPr>
          <p:cNvSpPr>
            <a:spLocks noGrp="1"/>
          </p:cNvSpPr>
          <p:nvPr/>
        </p:nvSpPr>
        <p:spPr>
          <a:xfrm>
            <a:off x="457200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metric-value-48">
            <a:extLst>
              <a:ext uri="{FF2B5EF4-FFF2-40B4-BE49-F238E27FC236}">
                <a16:creationId xmlns:a16="http://schemas.microsoft.com/office/drawing/2014/main" id="{2FFED7A3-BB75-43C6-8765-CFC0B415042A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8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16 → 0</a:t>
            </a:r>
          </a:p>
        </p:txBody>
      </p:sp>
      <p:sp>
        <p:nvSpPr>
          <p:cNvPr id="8" name="metric-label-48">
            <a:extLst>
              <a:ext uri="{FF2B5EF4-FFF2-40B4-BE49-F238E27FC236}">
                <a16:creationId xmlns:a16="http://schemas.microsoft.com/office/drawing/2014/main" id="{A381E40D-136F-49E5-A47C-C467FB2D5C74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container exits</a:t>
            </a:r>
          </a:p>
        </p:txBody>
      </p:sp>
      <p:sp>
        <p:nvSpPr>
          <p:cNvPr id="9" name="metric-detail-48">
            <a:extLst>
              <a:ext uri="{FF2B5EF4-FFF2-40B4-BE49-F238E27FC236}">
                <a16:creationId xmlns:a16="http://schemas.microsoft.com/office/drawing/2014/main" id="{9DDABDBD-ED44-4164-ADA6-88F970A99F7E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37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No further main-process exits during the immediate validation window.</a:t>
            </a:r>
          </a:p>
        </p:txBody>
      </p:sp>
      <p:sp>
        <p:nvSpPr>
          <p:cNvPr id="10" name="metric-bg-463">
            <a:extLst>
              <a:ext uri="{FF2B5EF4-FFF2-40B4-BE49-F238E27FC236}">
                <a16:creationId xmlns:a16="http://schemas.microsoft.com/office/drawing/2014/main" id="{32FC72EF-6A1D-4053-9FFC-2FB93018937F}"/>
              </a:ext>
            </a:extLst>
          </p:cNvPr>
          <p:cNvSpPr>
            <a:spLocks noGrp="1"/>
          </p:cNvSpPr>
          <p:nvPr/>
        </p:nvSpPr>
        <p:spPr>
          <a:xfrm>
            <a:off x="4410075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metric-value-463">
            <a:extLst>
              <a:ext uri="{FF2B5EF4-FFF2-40B4-BE49-F238E27FC236}">
                <a16:creationId xmlns:a16="http://schemas.microsoft.com/office/drawing/2014/main" id="{B3787B0C-ABB5-4C5E-9841-36522DFB6D17}"/>
              </a:ext>
            </a:extLst>
          </p:cNvPr>
          <p:cNvSpPr>
            <a:spLocks noGrp="1"/>
          </p:cNvSpPr>
          <p:nvPr/>
        </p:nvSpPr>
        <p:spPr>
          <a:xfrm>
            <a:off x="4676775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8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2 → 0</a:t>
            </a:r>
          </a:p>
        </p:txBody>
      </p:sp>
      <p:sp>
        <p:nvSpPr>
          <p:cNvPr id="12" name="metric-label-463">
            <a:extLst>
              <a:ext uri="{FF2B5EF4-FFF2-40B4-BE49-F238E27FC236}">
                <a16:creationId xmlns:a16="http://schemas.microsoft.com/office/drawing/2014/main" id="{4E493440-39D0-468C-9118-4DD6DA733402}"/>
              </a:ext>
            </a:extLst>
          </p:cNvPr>
          <p:cNvSpPr>
            <a:spLocks noGrp="1"/>
          </p:cNvSpPr>
          <p:nvPr/>
        </p:nvSpPr>
        <p:spPr>
          <a:xfrm>
            <a:off x="4676775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paired signatures</a:t>
            </a:r>
          </a:p>
        </p:txBody>
      </p:sp>
      <p:sp>
        <p:nvSpPr>
          <p:cNvPr id="13" name="metric-detail-463">
            <a:extLst>
              <a:ext uri="{FF2B5EF4-FFF2-40B4-BE49-F238E27FC236}">
                <a16:creationId xmlns:a16="http://schemas.microsoft.com/office/drawing/2014/main" id="{38AFCCB0-F23F-4E8D-93EB-E29211130D7A}"/>
              </a:ext>
            </a:extLst>
          </p:cNvPr>
          <p:cNvSpPr>
            <a:spLocks noGrp="1"/>
          </p:cNvSpPr>
          <p:nvPr/>
        </p:nvSpPr>
        <p:spPr>
          <a:xfrm>
            <a:off x="4676775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555"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Schema authorization and unhandled-Promise signatures both disappeared.</a:t>
            </a:r>
          </a:p>
        </p:txBody>
      </p:sp>
      <p:sp>
        <p:nvSpPr>
          <p:cNvPr id="14" name="metric-bg-878">
            <a:extLst>
              <a:ext uri="{FF2B5EF4-FFF2-40B4-BE49-F238E27FC236}">
                <a16:creationId xmlns:a16="http://schemas.microsoft.com/office/drawing/2014/main" id="{0B4E2F7F-6E58-4977-AF79-A035F57FD2DC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3371850" cy="2724150"/>
          </a:xfrm>
          <a:prstGeom prst="roundRect">
            <a:avLst>
              <a:gd name="adj" fmla="val 2797"/>
            </a:avLst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metric-value-878">
            <a:extLst>
              <a:ext uri="{FF2B5EF4-FFF2-40B4-BE49-F238E27FC236}">
                <a16:creationId xmlns:a16="http://schemas.microsoft.com/office/drawing/2014/main" id="{3C02CE36-E9F6-465D-9442-D9E52FB20426}"/>
              </a:ext>
            </a:extLst>
          </p:cNvPr>
          <p:cNvSpPr>
            <a:spLocks noGrp="1"/>
          </p:cNvSpPr>
          <p:nvPr/>
        </p:nvSpPr>
        <p:spPr>
          <a:xfrm>
            <a:off x="8629650" y="3371850"/>
            <a:ext cx="2838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 fontScale="78420"/>
          </a:bodyPr>
          <a:lstStyle/>
          <a:p>
            <a:pPr algn="l">
              <a:defRPr sz="48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≈112s → ≈6s</a:t>
            </a:r>
          </a:p>
        </p:txBody>
      </p:sp>
      <p:sp>
        <p:nvSpPr>
          <p:cNvPr id="16" name="metric-label-878">
            <a:extLst>
              <a:ext uri="{FF2B5EF4-FFF2-40B4-BE49-F238E27FC236}">
                <a16:creationId xmlns:a16="http://schemas.microsoft.com/office/drawing/2014/main" id="{7B488368-F5B6-4639-8943-0EDE221AAB96}"/>
              </a:ext>
            </a:extLst>
          </p:cNvPr>
          <p:cNvSpPr>
            <a:spLocks noGrp="1"/>
          </p:cNvSpPr>
          <p:nvPr/>
        </p:nvSpPr>
        <p:spPr>
          <a:xfrm>
            <a:off x="8629650" y="44386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average response</a:t>
            </a:r>
          </a:p>
        </p:txBody>
      </p:sp>
      <p:sp>
        <p:nvSpPr>
          <p:cNvPr id="17" name="metric-detail-878">
            <a:extLst>
              <a:ext uri="{FF2B5EF4-FFF2-40B4-BE49-F238E27FC236}">
                <a16:creationId xmlns:a16="http://schemas.microsoft.com/office/drawing/2014/main" id="{39FF029A-A9EC-4C92-8A18-7F0577E694E1}"/>
              </a:ext>
            </a:extLst>
          </p:cNvPr>
          <p:cNvSpPr>
            <a:spLocks noGrp="1"/>
          </p:cNvSpPr>
          <p:nvPr/>
        </p:nvSpPr>
        <p:spPr>
          <a:xfrm>
            <a:off x="8629650" y="4953000"/>
            <a:ext cx="2838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Rounded sample comparison; HTTP 5xx also returned to zero.</a:t>
            </a:r>
          </a:p>
        </p:txBody>
      </p:sp>
      <p:sp>
        <p:nvSpPr>
          <p:cNvPr id="18" name="recovery-qualifier">
            <a:extLst>
              <a:ext uri="{FF2B5EF4-FFF2-40B4-BE49-F238E27FC236}">
                <a16:creationId xmlns:a16="http://schemas.microsoft.com/office/drawing/2014/main" id="{CEDCD730-B57B-4D48-87B1-CEFE00E5B90A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High confidence for stopping this crash loop; longer soak, source review, and resilience testing were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149210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9">
            <a:extLst>
              <a:ext uri="{FF2B5EF4-FFF2-40B4-BE49-F238E27FC236}">
                <a16:creationId xmlns:a16="http://schemas.microsoft.com/office/drawing/2014/main" id="{A22C9423-44CF-4013-B327-8DE237E3CE3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ANONYMIZED AZURE CASE STUDY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209057B3-5D32-473A-B84D-214E95AEDEDB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Four controls prevent recurrence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351D6E11-C12D-4F1E-9513-D4115F7EEABA}"/>
              </a:ext>
            </a:extLst>
          </p:cNvPr>
          <p:cNvSpPr>
            <a:spLocks noGrp="1"/>
          </p:cNvSpPr>
          <p:nvPr/>
        </p:nvSpPr>
        <p:spPr>
          <a:xfrm>
            <a:off x="457200" y="1466850"/>
            <a:ext cx="11277600" cy="190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-number-9">
            <a:extLst>
              <a:ext uri="{FF2B5EF4-FFF2-40B4-BE49-F238E27FC236}">
                <a16:creationId xmlns:a16="http://schemas.microsoft.com/office/drawing/2014/main" id="{8D0606AB-134E-41FF-BBFD-F84250EE1EFB}"/>
              </a:ext>
            </a:extLst>
          </p:cNvPr>
          <p:cNvSpPr>
            <a:spLocks noGrp="1"/>
          </p:cNvSpPr>
          <p:nvPr/>
        </p:nvSpPr>
        <p:spPr>
          <a:xfrm>
            <a:off x="11277600" y="63817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evidence-48-202">
            <a:extLst>
              <a:ext uri="{FF2B5EF4-FFF2-40B4-BE49-F238E27FC236}">
                <a16:creationId xmlns:a16="http://schemas.microsoft.com/office/drawing/2014/main" id="{AC9C815B-63B1-4BDD-BAB6-0E97F42DFB45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5238750" cy="1752600"/>
          </a:xfrm>
          <a:prstGeom prst="rect">
            <a:avLst/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evidence-title-48-202">
            <a:extLst>
              <a:ext uri="{FF2B5EF4-FFF2-40B4-BE49-F238E27FC236}">
                <a16:creationId xmlns:a16="http://schemas.microsoft.com/office/drawing/2014/main" id="{A31B53B4-1F69-45B5-B75C-8D632D20B80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1  Identity intent</a:t>
            </a:r>
          </a:p>
        </p:txBody>
      </p:sp>
      <p:sp>
        <p:nvSpPr>
          <p:cNvPr id="7" name="evidence-body-48-202">
            <a:extLst>
              <a:ext uri="{FF2B5EF4-FFF2-40B4-BE49-F238E27FC236}">
                <a16:creationId xmlns:a16="http://schemas.microsoft.com/office/drawing/2014/main" id="{B6E403A4-359E-44F1-892E-A1CE58AE00F8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Use explicit credential classes and dependency-specific identity selectors. Remove unused ambient credentials after dependency review.</a:t>
            </a:r>
          </a:p>
        </p:txBody>
      </p:sp>
      <p:sp>
        <p:nvSpPr>
          <p:cNvPr id="8" name="evidence-632-202">
            <a:extLst>
              <a:ext uri="{FF2B5EF4-FFF2-40B4-BE49-F238E27FC236}">
                <a16:creationId xmlns:a16="http://schemas.microsoft.com/office/drawing/2014/main" id="{92F85F59-101B-46F1-BB99-8186986083CA}"/>
              </a:ext>
            </a:extLst>
          </p:cNvPr>
          <p:cNvSpPr>
            <a:spLocks noGrp="1"/>
          </p:cNvSpPr>
          <p:nvPr/>
        </p:nvSpPr>
        <p:spPr>
          <a:xfrm>
            <a:off x="6019800" y="1924050"/>
            <a:ext cx="5238750" cy="175260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evidence-title-632-202">
            <a:extLst>
              <a:ext uri="{FF2B5EF4-FFF2-40B4-BE49-F238E27FC236}">
                <a16:creationId xmlns:a16="http://schemas.microsoft.com/office/drawing/2014/main" id="{ABE25A2A-D8EC-4C47-AAF6-E8C158B8E2A6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2  Failure containment</a:t>
            </a:r>
          </a:p>
        </p:txBody>
      </p:sp>
      <p:sp>
        <p:nvSpPr>
          <p:cNvPr id="10" name="evidence-body-632-202">
            <a:extLst>
              <a:ext uri="{FF2B5EF4-FFF2-40B4-BE49-F238E27FC236}">
                <a16:creationId xmlns:a16="http://schemas.microsoft.com/office/drawing/2014/main" id="{7652E156-D6F7-4338-8C2F-4AC8A5BB7FBD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Catch authorization failures at the dependency boundary. Do not cache rejected initialization indefinitely; recover intentionally.</a:t>
            </a:r>
          </a:p>
        </p:txBody>
      </p:sp>
      <p:sp>
        <p:nvSpPr>
          <p:cNvPr id="11" name="evidence-48-416">
            <a:extLst>
              <a:ext uri="{FF2B5EF4-FFF2-40B4-BE49-F238E27FC236}">
                <a16:creationId xmlns:a16="http://schemas.microsoft.com/office/drawing/2014/main" id="{402C2E3C-E87E-4159-B218-C80DA90FD54B}"/>
              </a:ext>
            </a:extLst>
          </p:cNvPr>
          <p:cNvSpPr>
            <a:spLocks noGrp="1"/>
          </p:cNvSpPr>
          <p:nvPr/>
        </p:nvSpPr>
        <p:spPr>
          <a:xfrm>
            <a:off x="457200" y="3962400"/>
            <a:ext cx="5238750" cy="175260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evidence-title-48-416">
            <a:extLst>
              <a:ext uri="{FF2B5EF4-FFF2-40B4-BE49-F238E27FC236}">
                <a16:creationId xmlns:a16="http://schemas.microsoft.com/office/drawing/2014/main" id="{BC1B4962-C85C-44A0-8F88-E6C754E6BC77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3  Correlated detection</a:t>
            </a:r>
          </a:p>
        </p:txBody>
      </p:sp>
      <p:sp>
        <p:nvSpPr>
          <p:cNvPr id="13" name="evidence-body-48-416">
            <a:extLst>
              <a:ext uri="{FF2B5EF4-FFF2-40B4-BE49-F238E27FC236}">
                <a16:creationId xmlns:a16="http://schemas.microsoft.com/office/drawing/2014/main" id="{090AA89D-8E13-4474-AEE4-77C40093B39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Alert on error → unhandled rejection → exit → restart, and verify the principal used without logging secrets or tokens.</a:t>
            </a:r>
          </a:p>
        </p:txBody>
      </p:sp>
      <p:sp>
        <p:nvSpPr>
          <p:cNvPr id="14" name="evidence-632-416">
            <a:extLst>
              <a:ext uri="{FF2B5EF4-FFF2-40B4-BE49-F238E27FC236}">
                <a16:creationId xmlns:a16="http://schemas.microsoft.com/office/drawing/2014/main" id="{C0152D27-BF09-4C4B-9E19-929940D6F37F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5238750" cy="1752600"/>
          </a:xfrm>
          <a:prstGeom prst="rect">
            <a:avLst/>
          </a:prstGeom>
          <a:solidFill>
            <a:srgbClr val="EAF5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evidence-title-632-416">
            <a:extLst>
              <a:ext uri="{FF2B5EF4-FFF2-40B4-BE49-F238E27FC236}">
                <a16:creationId xmlns:a16="http://schemas.microsoft.com/office/drawing/2014/main" id="{9FDDCEC5-D434-4A33-B1AF-5F96AACFEC20}"/>
              </a:ext>
            </a:extLst>
          </p:cNvPr>
          <p:cNvSpPr>
            <a:spLocks noGrp="1"/>
          </p:cNvSpPr>
          <p:nvPr/>
        </p:nvSpPr>
        <p:spPr>
          <a:xfrm>
            <a:off x="6248400" y="4171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4  Availability design</a:t>
            </a:r>
          </a:p>
        </p:txBody>
      </p:sp>
      <p:sp>
        <p:nvSpPr>
          <p:cNvPr id="16" name="evidence-body-632-416">
            <a:extLst>
              <a:ext uri="{FF2B5EF4-FFF2-40B4-BE49-F238E27FC236}">
                <a16:creationId xmlns:a16="http://schemas.microsoft.com/office/drawing/2014/main" id="{93310542-2787-46DD-A47F-8F6E1249C059}"/>
              </a:ext>
            </a:extLst>
          </p:cNvPr>
          <p:cNvSpPr>
            <a:spLocks noGrp="1"/>
          </p:cNvSpPr>
          <p:nvPr/>
        </p:nvSpPr>
        <p:spPr>
          <a:xfrm>
            <a:off x="6248400" y="468630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Validate session behavior, health checks, and multi-instance operation. Scale reduces blast radius but does not fix identity defects.</a:t>
            </a:r>
          </a:p>
        </p:txBody>
      </p:sp>
    </p:spTree>
    <p:extLst>
      <p:ext uri="{BB962C8B-B14F-4D97-AF65-F5344CB8AC3E}">
        <p14:creationId xmlns:p14="http://schemas.microsoft.com/office/powerpoint/2010/main" val="156042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se-kicker">
            <a:extLst>
              <a:ext uri="{FF2B5EF4-FFF2-40B4-BE49-F238E27FC236}">
                <a16:creationId xmlns:a16="http://schemas.microsoft.com/office/drawing/2014/main" id="{4621B6FF-0E0B-411A-BBA9-AB67A2284B80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REUSABLE LESSON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6D5AA54F-C8AD-4519-B14E-2C317BBD6E0D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106680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48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Restarts recover transient failures—</a:t>
            </a:r>
          </a:p>
          <a:p>
            <a:pPr algn="l">
              <a:defRPr sz="48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not deterministic defects</a:t>
            </a:r>
          </a:p>
        </p:txBody>
      </p:sp>
      <p:sp>
        <p:nvSpPr>
          <p:cNvPr id="3" name="close-accent">
            <a:extLst>
              <a:ext uri="{FF2B5EF4-FFF2-40B4-BE49-F238E27FC236}">
                <a16:creationId xmlns:a16="http://schemas.microsoft.com/office/drawing/2014/main" id="{3FA34752-319B-4EA9-8BDA-1B9145E24E4E}"/>
              </a:ext>
            </a:extLst>
          </p:cNvPr>
          <p:cNvSpPr>
            <a:spLocks noGrp="1"/>
          </p:cNvSpPr>
          <p:nvPr/>
        </p:nvSpPr>
        <p:spPr>
          <a:xfrm>
            <a:off x="457200" y="2990850"/>
            <a:ext cx="20955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lesson-title-0">
            <a:extLst>
              <a:ext uri="{FF2B5EF4-FFF2-40B4-BE49-F238E27FC236}">
                <a16:creationId xmlns:a16="http://schemas.microsoft.com/office/drawing/2014/main" id="{2229DD33-5630-4C00-A8BC-2D6FC0F8C7DD}"/>
              </a:ext>
            </a:extLst>
          </p:cNvPr>
          <p:cNvSpPr>
            <a:spLocks noGrp="1"/>
          </p:cNvSpPr>
          <p:nvPr/>
        </p:nvSpPr>
        <p:spPr>
          <a:xfrm>
            <a:off x="457200" y="36385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Make identity selection explicit</a:t>
            </a:r>
          </a:p>
        </p:txBody>
      </p:sp>
      <p:sp>
        <p:nvSpPr>
          <p:cNvPr id="5" name="lesson-body-0">
            <a:extLst>
              <a:ext uri="{FF2B5EF4-FFF2-40B4-BE49-F238E27FC236}">
                <a16:creationId xmlns:a16="http://schemas.microsoft.com/office/drawing/2014/main" id="{46E027ED-9BA6-4FBD-9772-EE898C8AA9D4}"/>
              </a:ext>
            </a:extLst>
          </p:cNvPr>
          <p:cNvSpPr>
            <a:spLocks noGrp="1"/>
          </p:cNvSpPr>
          <p:nvPr/>
        </p:nvSpPr>
        <p:spPr>
          <a:xfrm>
            <a:off x="457200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 production workload should not let unrelated ambient credentials compete for a known dependency.</a:t>
            </a:r>
          </a:p>
        </p:txBody>
      </p:sp>
      <p:sp>
        <p:nvSpPr>
          <p:cNvPr id="6" name="lesson-title-1">
            <a:extLst>
              <a:ext uri="{FF2B5EF4-FFF2-40B4-BE49-F238E27FC236}">
                <a16:creationId xmlns:a16="http://schemas.microsoft.com/office/drawing/2014/main" id="{D38C3E75-CBA1-4675-93C0-00E45C991615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Contain permanent dependency failures</a:t>
            </a:r>
          </a:p>
        </p:txBody>
      </p:sp>
      <p:sp>
        <p:nvSpPr>
          <p:cNvPr id="7" name="lesson-body-1">
            <a:extLst>
              <a:ext uri="{FF2B5EF4-FFF2-40B4-BE49-F238E27FC236}">
                <a16:creationId xmlns:a16="http://schemas.microsoft.com/office/drawing/2014/main" id="{B9AB1072-0A62-4472-85BD-B5C8B457EC13}"/>
              </a:ext>
            </a:extLst>
          </p:cNvPr>
          <p:cNvSpPr>
            <a:spLocks noGrp="1"/>
          </p:cNvSpPr>
          <p:nvPr/>
        </p:nvSpPr>
        <p:spPr>
          <a:xfrm>
            <a:off x="4248150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A predictable authorization denial must not accidentally terminate the whole process.</a:t>
            </a:r>
          </a:p>
        </p:txBody>
      </p:sp>
      <p:sp>
        <p:nvSpPr>
          <p:cNvPr id="8" name="lesson-title-2">
            <a:extLst>
              <a:ext uri="{FF2B5EF4-FFF2-40B4-BE49-F238E27FC236}">
                <a16:creationId xmlns:a16="http://schemas.microsoft.com/office/drawing/2014/main" id="{2D9838E1-3F41-4BDB-8C2E-CE36BD785828}"/>
              </a:ext>
            </a:extLst>
          </p:cNvPr>
          <p:cNvSpPr>
            <a:spLocks noGrp="1"/>
          </p:cNvSpPr>
          <p:nvPr/>
        </p:nvSpPr>
        <p:spPr>
          <a:xfrm>
            <a:off x="8039100" y="36385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Design for evidence and survival</a:t>
            </a:r>
          </a:p>
        </p:txBody>
      </p:sp>
      <p:sp>
        <p:nvSpPr>
          <p:cNvPr id="9" name="lesson-body-2">
            <a:extLst>
              <a:ext uri="{FF2B5EF4-FFF2-40B4-BE49-F238E27FC236}">
                <a16:creationId xmlns:a16="http://schemas.microsoft.com/office/drawing/2014/main" id="{E430B16E-181A-49AE-BF14-B8D4D7DE14D3}"/>
              </a:ext>
            </a:extLst>
          </p:cNvPr>
          <p:cNvSpPr>
            <a:spLocks noGrp="1"/>
          </p:cNvSpPr>
          <p:nvPr/>
        </p:nvSpPr>
        <p:spPr>
          <a:xfrm>
            <a:off x="8039100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4F56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F5661"/>
                </a:solidFill>
                <a:latin typeface="Arial"/>
                <a:ea typeface="Arial"/>
                <a:cs typeface="Arial"/>
              </a:rPr>
              <a:t>Correlated telemetry finds the first failure; multiple healthy instances reduce process-level blast radius.</a:t>
            </a:r>
          </a:p>
        </p:txBody>
      </p:sp>
      <p:sp>
        <p:nvSpPr>
          <p:cNvPr id="10" name="close-prompt">
            <a:extLst>
              <a:ext uri="{FF2B5EF4-FFF2-40B4-BE49-F238E27FC236}">
                <a16:creationId xmlns:a16="http://schemas.microsoft.com/office/drawing/2014/main" id="{1DEB9A65-F70B-41F7-889A-28EBB0DA6D73}"/>
              </a:ext>
            </a:extLst>
          </p:cNvPr>
          <p:cNvSpPr>
            <a:spLocks noGrp="1"/>
          </p:cNvSpPr>
          <p:nvPr/>
        </p:nvSpPr>
        <p:spPr>
          <a:xfrm>
            <a:off x="457200" y="59817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650" b="1">
                <a:solidFill>
                  <a:srgbClr val="1557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57B0"/>
                </a:solidFill>
                <a:latin typeface="Arial"/>
                <a:ea typeface="Arial"/>
                <a:cs typeface="Arial"/>
              </a:rPr>
              <a:t>Architecture review prompt: Which credentials can this workload select, and what happens when a critical dependency returns 403?</a:t>
            </a:r>
          </a:p>
        </p:txBody>
      </p:sp>
    </p:spTree>
    <p:extLst>
      <p:ext uri="{BB962C8B-B14F-4D97-AF65-F5344CB8AC3E}">
        <p14:creationId xmlns:p14="http://schemas.microsoft.com/office/powerpoint/2010/main" val="16381790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Office PowerPoint</Application>
  <DocSecurity>0</DocSecurity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Identity Crash Loop Case Study</dc:title>
  <dc:creator>Anonymized Case Study</dc:creator>
  <cp:lastModifiedBy>Hardik Desai</cp:lastModifiedBy>
  <cp:revision>1</cp:revision>
  <dcterms:created xsi:type="dcterms:W3CDTF">2000-01-01T00:00:00Z</dcterms:created>
  <dcterms:modified xsi:type="dcterms:W3CDTF">2026-08-27T16:05:56Z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2026-08-27T16:05:56Z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ae832093-0601-4538-bc12-9a6802378ebb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10, 3, 0, 1</vt:lpwstr>
  </property>
</Properties>
</file>