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d123d7c073f4b89" /><Relationship Type="http://schemas.openxmlformats.org/officeDocument/2006/relationships/extended-properties" Target="/docProps/app.xml" Id="Rc915e4bf10124bb8" /><Relationship Type="http://schemas.openxmlformats.org/officeDocument/2006/relationships/officeDocument" Target="/ppt/presentation.xml" Id="Rba0d4af6d9dd4ff9" /></Relationships>
</file>

<file path=ppt/presentation.xml><?xml version="1.0" encoding="utf-8"?>
<p:presentation xmlns:p="http://schemas.openxmlformats.org/presentationml/2006/main">
  <p:sldMasterIdLst>
    <p:sldMasterId xmlns:r="http://schemas.openxmlformats.org/officeDocument/2006/relationships" id="2147483648" r:id="R1a85e394517a4f71"/>
  </p:sldMasterIdLst>
  <p:notesMasterIdLst>
    <p:notesMasterId xmlns:r="http://schemas.openxmlformats.org/officeDocument/2006/relationships" r:id="R2a2d0bf5ca354975"/>
  </p:notesMasterIdLst>
  <p:sldIdLst>
    <p:sldId xmlns:r="http://schemas.openxmlformats.org/officeDocument/2006/relationships" id="256" r:id="R5dfd78561efb4936"/>
  </p:sldIdLst>
  <p:sldSz cx="13716000" cy="771525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c94cbd46be940d4" /><Relationship Type="http://schemas.openxmlformats.org/officeDocument/2006/relationships/slideMaster" Target="/ppt/slideMasters/slideMaster1.xml" Id="R1a85e394517a4f71" /><Relationship Type="http://schemas.openxmlformats.org/officeDocument/2006/relationships/notesMaster" Target="/ppt/notesMasters/notesMaster1.xml" Id="R2a2d0bf5ca354975" /><Relationship Type="http://schemas.openxmlformats.org/officeDocument/2006/relationships/presProps" Target="/ppt/presProps.xml" Id="Rffe23f5f5b934fdd" /><Relationship Type="http://schemas.openxmlformats.org/officeDocument/2006/relationships/tableStyles" Target="/ppt/tableStyles.xml" Id="R0f00ad90639643eb" /><Relationship Type="http://schemas.openxmlformats.org/officeDocument/2006/relationships/slide" Target="/ppt/slides/slide1.xml" Id="R5dfd78561efb493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b3750127b8b466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bbe9a0af11e4327" /><Relationship Type="http://schemas.openxmlformats.org/officeDocument/2006/relationships/notesMaster" Target="/ppt/notesMasters/notesMaster1.xml" Id="R6e8056d2b63d47b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Application performance snapshot for dt-prd-app-oeqrq2jxadm36.</a:t>
            </a:r>
          </a:p>
          <a:p xmlns:a="http://schemas.openxmlformats.org/drawingml/2006/main">
            <a:r>
              <a:t>UTC window: 2026-09-04 05:40:00 to 2026-09-05 05:40:00. IST: 4 September 11:10 to 5 September 11:10. Collected 2026-09-05 05:41:33 UTC. This slide uses the prior collected snapshot, without refreshing the reporting window.</a:t>
            </a:r>
          </a:p>
          <a:p xmlns:a="http://schemas.openxmlformats.org/drawingml/2006/main">
            <a:r>
              <a:t>Confirmed: 4095 web-app requests, 2032 HTTP 4xx responses (49.62%), zero HTTP 5xx responses. 2,063 HTTP 2xx responses.</a:t>
            </a:r>
          </a:p>
          <a:p xmlns:a="http://schemas.openxmlformats.org/drawingml/2006/main">
            <a:r>
              <a:t>Confirmed: displayed table covers all seven running web apps. Exact resource names and metric values are in the source summary. ORA, Legacy Docs and Medicaid are currently stopped and each recorded zero requests. State history was not queried.</a:t>
            </a:r>
          </a:p>
          <a:p xmlns:a="http://schemas.openxmlformats.org/drawingml/2006/main">
            <a:r>
              <a:t>Confirmed: one Flex Consumption DLQ function returned zero on-demand and always-ready execution counts. Static Portal returned 10,045 site hits. Static-site errors and latency had no values, and zero function executions do not establish processing health. Do not combine counts from different layers.</a:t>
            </a:r>
          </a:p>
          <a:p xmlns:a="http://schemas.openxmlformats.org/drawingml/2006/main">
            <a:r>
              <a:t>Confirmed: Notification Service and Labor Pool requests were entirely 404, PMM entirely 401, and Audit Log had 287 HTTP 404 responses plus one other HTTP 4xx response. Inferred: the approximately 287-288 daily requests are consistent with periodic probes. Probe purpose and user impact are unverified.</a:t>
            </a:r>
          </a:p>
          <a:p xmlns:a="http://schemas.openxmlformats.org/drawingml/2006/main">
            <a:r>
              <a:t>Response values use Azure-provided daily averages, converted seconds to milliseconds. CPU and memory values are percentages on associated App Service plans, and are not per-application percentages. Peak memory is the maximum of five-minute averages, not an instantaneous maximum. No SLO or saturation threshold has been established.</a:t>
            </a:r>
          </a:p>
          <a:p xmlns:a="http://schemas.openxmlformats.org/drawingml/2006/main">
            <a:r>
              <a:t>Unknown: detailed HTTP request causes, p95/p99, dependency performance, exceptions and end-to-end availability. No Application Insights resources appeared in the scoped inventory. Conditional Access blocked the aggregate HTTP log query (AADSTS53003). No request payloads were retrieved. No Azure resources were changed.</a:t>
            </a:r>
          </a:p>
          <a:p xmlns:a="http://schemas.openxmlformats.org/drawingml/2006/main">
            <a:r>
              <a:t>Source report: D:/codes/Azure/Output/2026-09-05-111000-dt-prd-app-performance-24h.md</a:t>
            </a:r>
          </a:p>
          <a:p xmlns:a="http://schemas.openxmlformats.org/drawingml/2006/main">
            <a:r>
              <a:t>Source application summary: D:/codes/Azure/Output/2026-09-05-111000-dt-prd-app-performance-24h-summary.json</a:t>
            </a:r>
          </a:p>
          <a:p xmlns:a="http://schemas.openxmlformats.org/drawingml/2006/main">
            <a:r>
              <a:t>Detailed observations: D:/codes/Azure/Output/2026-09-05-111000-dt-prd-app-performance-24h-data.json</a:t>
            </a:r>
          </a:p>
          <a:p xmlns:a="http://schemas.openxmlformats.org/drawingml/2006/main">
            <a:r>
              <a:t>Microsoft definitions: https://learn.microsoft.com/en-us/azure/azure-monitor/reference/supported-metrics/microsoft-web-sites-metrics</a:t>
            </a:r>
          </a:p>
          <a:p xmlns:a="http://schemas.openxmlformats.org/drawingml/2006/main">
            <a:r>
              <a:t>Hosting-plan definitions: https://learn.microsoft.com/en-us/azure/azure-monitor/reference/supported-metrics/microsoft-web-serverfarms-metrics</a:t>
            </a:r>
          </a:p>
          <a:p xmlns:a="http://schemas.openxmlformats.org/drawingml/2006/main">
            <a:r>
              <a:t>Exact running app mapping:</a:t>
            </a:r>
          </a:p>
          <a:p xmlns:a="http://schemas.openxmlformats.org/drawingml/2006/main">
            <a:r>
              <a:t>Portal: app-portal-prod-ncus; plan asp-portal-prod-ncus</a:t>
            </a:r>
          </a:p>
          <a:p xmlns:a="http://schemas.openxmlformats.org/drawingml/2006/main">
            <a:r>
              <a:t>Hand Hygiene: app-hand-hygiene-prod-ncus; plan asp-hand-hygiene-prod-ncus</a:t>
            </a:r>
          </a:p>
          <a:p xmlns:a="http://schemas.openxmlformats.org/drawingml/2006/main">
            <a:r>
              <a:t>HHS: app-HHS-prod-ncus; plan asp-asp-hhs-prod-ncus-prod-ncus</a:t>
            </a:r>
          </a:p>
          <a:p xmlns:a="http://schemas.openxmlformats.org/drawingml/2006/main">
            <a:r>
              <a:t>Audit Log: app-audit-log-prod-ncus; plan asp-audit-log-prod-ncus</a:t>
            </a:r>
          </a:p>
          <a:p xmlns:a="http://schemas.openxmlformats.org/drawingml/2006/main">
            <a:r>
              <a:t>Labor Pool: app-labor-pool-prod-ncus; plan asp-labor-pool-prod-ncus</a:t>
            </a:r>
          </a:p>
          <a:p xmlns:a="http://schemas.openxmlformats.org/drawingml/2006/main">
            <a:r>
              <a:t>Notification Service: app-notification-service-prod-ncus; plan asp-notification-service-prod-ncus</a:t>
            </a:r>
          </a:p>
          <a:p xmlns:a="http://schemas.openxmlformats.org/drawingml/2006/main">
            <a:r>
              <a:t>PMM: app-PMM-prod-ncus; plan asp-asp-pmm-prod-ncus-prod-ncus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6bb20fe4d8e486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df2f878fbfb4d43" /><Relationship Type="http://schemas.openxmlformats.org/officeDocument/2006/relationships/slideLayout" Target="/ppt/slideLayouts/slideLayout1.xml" Id="R21eb405c0ebf46e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1eb405c0ebf46e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72685db6bce4aa2" /><Relationship Type="http://schemas.openxmlformats.org/officeDocument/2006/relationships/notesSlide" Target="/ppt/notesSlides/notesSlide1.xml" Id="R148832c2edda4288"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Title">
            <a:extLst xmlns:a="http://schemas.openxmlformats.org/drawingml/2006/main">
              <a:ext uri="{FF2B5EF4-FFF2-40B4-BE49-F238E27FC236}">
                <a16:creationId xmlns:a16="http://schemas.microsoft.com/office/drawing/2014/main" id="{C2B7290C-EE64-4F4C-83E9-16BCE31663DD}"/>
              </a:ext>
            </a:extLst>
          </p:cNvPr>
          <p:cNvSpPr>
            <a:spLocks xmlns:a="http://schemas.openxmlformats.org/drawingml/2006/main" noGrp="1"/>
          </p:cNvSpPr>
          <p:nvPr/>
        </p:nvSpPr>
        <p:spPr>
          <a:xfrm xmlns:a="http://schemas.openxmlformats.org/drawingml/2006/main">
            <a:off x="457200" y="314325"/>
            <a:ext cx="12801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132E45"/>
                </a:solidFill>
                <a:latin typeface="Arial"/>
                <a:ea typeface="Arial"/>
                <a:cs typeface="Arial"/>
              </a:defRPr>
            </a:pPr>
            <a:r>
              <a:rPr sz="3600" b="1">
                <a:solidFill>
                  <a:srgbClr val="132E45"/>
                </a:solidFill>
                <a:latin typeface="Arial"/>
                <a:ea typeface="Arial"/>
                <a:cs typeface="Arial"/>
              </a:rPr>
              <a:t>Application performance</a:t>
            </a:r>
          </a:p>
        </p:txBody>
      </p:sp>
      <p:sp>
        <p:nvSpPr>
          <p:cNvPr id="2" name="Scope and reporting window">
            <a:extLst xmlns:a="http://schemas.openxmlformats.org/drawingml/2006/main">
              <a:ext uri="{FF2B5EF4-FFF2-40B4-BE49-F238E27FC236}">
                <a16:creationId xmlns:a16="http://schemas.microsoft.com/office/drawing/2014/main" id="{B3DC3CD0-6C92-44BD-8CA7-3E13F0A3214A}"/>
              </a:ext>
            </a:extLst>
          </p:cNvPr>
          <p:cNvSpPr>
            <a:spLocks xmlns:a="http://schemas.openxmlformats.org/drawingml/2006/main" noGrp="1"/>
          </p:cNvSpPr>
          <p:nvPr/>
        </p:nvSpPr>
        <p:spPr>
          <a:xfrm xmlns:a="http://schemas.openxmlformats.org/drawingml/2006/main">
            <a:off x="476250" y="952500"/>
            <a:ext cx="11906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0">
                <a:solidFill>
                  <a:srgbClr val="566779"/>
                </a:solidFill>
                <a:latin typeface="Arial"/>
                <a:ea typeface="Arial"/>
                <a:cs typeface="Arial"/>
              </a:defRPr>
            </a:pPr>
            <a:r>
              <a:rPr sz="1575" b="0">
                <a:solidFill>
                  <a:srgbClr val="566779"/>
                </a:solidFill>
                <a:latin typeface="Arial"/>
                <a:ea typeface="Arial"/>
                <a:cs typeface="Arial"/>
              </a:rPr>
              <a:t>dt-prd-app-oeqrq2jxadm36</a:t>
            </a:r>
          </a:p>
          <a:p xmlns:a="http://schemas.openxmlformats.org/drawingml/2006/main">
            <a:pPr>
              <a:defRPr sz="1575" b="0">
                <a:solidFill>
                  <a:srgbClr val="566779"/>
                </a:solidFill>
                <a:latin typeface="Arial"/>
                <a:ea typeface="Arial"/>
                <a:cs typeface="Arial"/>
              </a:defRPr>
            </a:pPr>
            <a:r>
              <a:rPr sz="1575" b="0">
                <a:solidFill>
                  <a:srgbClr val="566779"/>
                </a:solidFill>
                <a:latin typeface="Arial"/>
                <a:ea typeface="Arial"/>
                <a:cs typeface="Arial"/>
              </a:rPr>
              <a:t>4 Sep 2026 11:10 to 5 Sep 2026 11:10 IST</a:t>
            </a:r>
          </a:p>
        </p:txBody>
      </p:sp>
      <p:sp>
        <p:nvSpPr>
          <p:cNvPr id="3" name="Request total">
            <a:extLst xmlns:a="http://schemas.openxmlformats.org/drawingml/2006/main">
              <a:ext uri="{FF2B5EF4-FFF2-40B4-BE49-F238E27FC236}">
                <a16:creationId xmlns:a16="http://schemas.microsoft.com/office/drawing/2014/main" id="{AEB059A8-AD9A-4FB9-866E-06F0A1837E74}"/>
              </a:ext>
            </a:extLst>
          </p:cNvPr>
          <p:cNvSpPr>
            <a:spLocks xmlns:a="http://schemas.openxmlformats.org/drawingml/2006/main" noGrp="1"/>
          </p:cNvSpPr>
          <p:nvPr/>
        </p:nvSpPr>
        <p:spPr>
          <a:xfrm xmlns:a="http://schemas.openxmlformats.org/drawingml/2006/main">
            <a:off x="457200" y="1657350"/>
            <a:ext cx="2333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450" b="1">
                <a:solidFill>
                  <a:srgbClr val="006EAF"/>
                </a:solidFill>
                <a:latin typeface="Arial"/>
                <a:ea typeface="Arial"/>
                <a:cs typeface="Arial"/>
              </a:defRPr>
            </a:pPr>
            <a:r>
              <a:rPr sz="3450" b="1">
                <a:solidFill>
                  <a:srgbClr val="006EAF"/>
                </a:solidFill>
                <a:latin typeface="Arial"/>
                <a:ea typeface="Arial"/>
                <a:cs typeface="Arial"/>
              </a:rPr>
              <a:t>4,095</a:t>
            </a:r>
          </a:p>
        </p:txBody>
      </p:sp>
      <p:sp>
        <p:nvSpPr>
          <p:cNvPr id="4" name="Request label">
            <a:extLst xmlns:a="http://schemas.openxmlformats.org/drawingml/2006/main">
              <a:ext uri="{FF2B5EF4-FFF2-40B4-BE49-F238E27FC236}">
                <a16:creationId xmlns:a16="http://schemas.microsoft.com/office/drawing/2014/main" id="{9FE42F03-034C-41F1-A295-5C1DE58EC917}"/>
              </a:ext>
            </a:extLst>
          </p:cNvPr>
          <p:cNvSpPr>
            <a:spLocks xmlns:a="http://schemas.openxmlformats.org/drawingml/2006/main" noGrp="1"/>
          </p:cNvSpPr>
          <p:nvPr/>
        </p:nvSpPr>
        <p:spPr>
          <a:xfrm xmlns:a="http://schemas.openxmlformats.org/drawingml/2006/main">
            <a:off x="476250" y="2219325"/>
            <a:ext cx="2428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0">
                <a:solidFill>
                  <a:srgbClr val="566779"/>
                </a:solidFill>
                <a:latin typeface="Arial"/>
                <a:ea typeface="Arial"/>
                <a:cs typeface="Arial"/>
              </a:defRPr>
            </a:pPr>
            <a:r>
              <a:rPr sz="1575" b="0">
                <a:solidFill>
                  <a:srgbClr val="566779"/>
                </a:solidFill>
                <a:latin typeface="Arial"/>
                <a:ea typeface="Arial"/>
                <a:cs typeface="Arial"/>
              </a:rPr>
              <a:t>Web-app requests</a:t>
            </a:r>
          </a:p>
        </p:txBody>
      </p:sp>
      <p:sp>
        <p:nvSpPr>
          <p:cNvPr id="5" name="Server errors">
            <a:extLst xmlns:a="http://schemas.openxmlformats.org/drawingml/2006/main">
              <a:ext uri="{FF2B5EF4-FFF2-40B4-BE49-F238E27FC236}">
                <a16:creationId xmlns:a16="http://schemas.microsoft.com/office/drawing/2014/main" id="{08DBAF5B-6B9E-4B76-83F2-BBBEA9C6D1FF}"/>
              </a:ext>
            </a:extLst>
          </p:cNvPr>
          <p:cNvSpPr>
            <a:spLocks xmlns:a="http://schemas.openxmlformats.org/drawingml/2006/main" noGrp="1"/>
          </p:cNvSpPr>
          <p:nvPr/>
        </p:nvSpPr>
        <p:spPr>
          <a:xfrm xmlns:a="http://schemas.openxmlformats.org/drawingml/2006/main">
            <a:off x="3476625" y="1657350"/>
            <a:ext cx="2286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450" b="1">
                <a:solidFill>
                  <a:srgbClr val="26745C"/>
                </a:solidFill>
                <a:latin typeface="Arial"/>
                <a:ea typeface="Arial"/>
                <a:cs typeface="Arial"/>
              </a:defRPr>
            </a:pPr>
            <a:r>
              <a:rPr sz="3450" b="1">
                <a:solidFill>
                  <a:srgbClr val="26745C"/>
                </a:solidFill>
                <a:latin typeface="Arial"/>
                <a:ea typeface="Arial"/>
                <a:cs typeface="Arial"/>
              </a:rPr>
              <a:t>0</a:t>
            </a:r>
          </a:p>
        </p:txBody>
      </p:sp>
      <p:sp>
        <p:nvSpPr>
          <p:cNvPr id="6" name="Server error label">
            <a:extLst xmlns:a="http://schemas.openxmlformats.org/drawingml/2006/main">
              <a:ext uri="{FF2B5EF4-FFF2-40B4-BE49-F238E27FC236}">
                <a16:creationId xmlns:a16="http://schemas.microsoft.com/office/drawing/2014/main" id="{07954122-5C50-4845-A796-19813A51F763}"/>
              </a:ext>
            </a:extLst>
          </p:cNvPr>
          <p:cNvSpPr>
            <a:spLocks xmlns:a="http://schemas.openxmlformats.org/drawingml/2006/main" noGrp="1"/>
          </p:cNvSpPr>
          <p:nvPr/>
        </p:nvSpPr>
        <p:spPr>
          <a:xfrm xmlns:a="http://schemas.openxmlformats.org/drawingml/2006/main">
            <a:off x="3495675" y="2219325"/>
            <a:ext cx="2571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0">
                <a:solidFill>
                  <a:srgbClr val="566779"/>
                </a:solidFill>
                <a:latin typeface="Arial"/>
                <a:ea typeface="Arial"/>
                <a:cs typeface="Arial"/>
              </a:defRPr>
            </a:pPr>
            <a:r>
              <a:rPr sz="1575" b="0">
                <a:solidFill>
                  <a:srgbClr val="566779"/>
                </a:solidFill>
                <a:latin typeface="Arial"/>
                <a:ea typeface="Arial"/>
                <a:cs typeface="Arial"/>
              </a:rPr>
              <a:t>HTTP 5xx responses</a:t>
            </a:r>
          </a:p>
        </p:txBody>
      </p:sp>
      <p:sp>
        <p:nvSpPr>
          <p:cNvPr id="7" name="Client error rate">
            <a:extLst xmlns:a="http://schemas.openxmlformats.org/drawingml/2006/main">
              <a:ext uri="{FF2B5EF4-FFF2-40B4-BE49-F238E27FC236}">
                <a16:creationId xmlns:a16="http://schemas.microsoft.com/office/drawing/2014/main" id="{C958A00A-077A-4089-912D-C77138097675}"/>
              </a:ext>
            </a:extLst>
          </p:cNvPr>
          <p:cNvSpPr>
            <a:spLocks xmlns:a="http://schemas.openxmlformats.org/drawingml/2006/main" noGrp="1"/>
          </p:cNvSpPr>
          <p:nvPr/>
        </p:nvSpPr>
        <p:spPr>
          <a:xfrm xmlns:a="http://schemas.openxmlformats.org/drawingml/2006/main">
            <a:off x="6686550" y="1657350"/>
            <a:ext cx="2619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450" b="1">
                <a:solidFill>
                  <a:srgbClr val="9B4C0A"/>
                </a:solidFill>
                <a:latin typeface="Arial"/>
                <a:ea typeface="Arial"/>
                <a:cs typeface="Arial"/>
              </a:defRPr>
            </a:pPr>
            <a:r>
              <a:rPr sz="3450" b="1">
                <a:solidFill>
                  <a:srgbClr val="9B4C0A"/>
                </a:solidFill>
                <a:latin typeface="Arial"/>
                <a:ea typeface="Arial"/>
                <a:cs typeface="Arial"/>
              </a:rPr>
              <a:t>49.6%</a:t>
            </a:r>
          </a:p>
        </p:txBody>
      </p:sp>
      <p:sp>
        <p:nvSpPr>
          <p:cNvPr id="8" name="Client error label">
            <a:extLst xmlns:a="http://schemas.openxmlformats.org/drawingml/2006/main">
              <a:ext uri="{FF2B5EF4-FFF2-40B4-BE49-F238E27FC236}">
                <a16:creationId xmlns:a16="http://schemas.microsoft.com/office/drawing/2014/main" id="{E49A408C-3CAB-4599-AEEA-532BDC38EEA7}"/>
              </a:ext>
            </a:extLst>
          </p:cNvPr>
          <p:cNvSpPr>
            <a:spLocks xmlns:a="http://schemas.openxmlformats.org/drawingml/2006/main" noGrp="1"/>
          </p:cNvSpPr>
          <p:nvPr/>
        </p:nvSpPr>
        <p:spPr>
          <a:xfrm xmlns:a="http://schemas.openxmlformats.org/drawingml/2006/main">
            <a:off x="6705600" y="2219325"/>
            <a:ext cx="3190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0">
                <a:solidFill>
                  <a:srgbClr val="566779"/>
                </a:solidFill>
                <a:latin typeface="Arial"/>
                <a:ea typeface="Arial"/>
                <a:cs typeface="Arial"/>
              </a:defRPr>
            </a:pPr>
            <a:r>
              <a:rPr sz="1575" b="0">
                <a:solidFill>
                  <a:srgbClr val="566779"/>
                </a:solidFill>
                <a:latin typeface="Arial"/>
                <a:ea typeface="Arial"/>
                <a:cs typeface="Arial"/>
              </a:rPr>
              <a:t>2,032 HTTP 4xx responses</a:t>
            </a:r>
          </a:p>
        </p:txBody>
      </p:sp>
      <p:graphicFrame>
        <p:nvGraphicFramePr>
          <p:cNvPr id="25" name=""/>
          <p:cNvGraphicFramePr/>
          <p:nvPr/>
        </p:nvGraphicFramePr>
        <p:xfrm>
          <a:off xmlns:a="http://schemas.openxmlformats.org/drawingml/2006/main" x="457200" y="2667000"/>
          <a:ext xmlns:a="http://schemas.openxmlformats.org/drawingml/2006/main" cx="9429750" cy="3267075"/>
        </p:xfrm>
        <a:graphic xmlns:a="http://schemas.openxmlformats.org/drawingml/2006/main">
          <a:graphicData uri="http://schemas.openxmlformats.org/drawingml/2006/table">
            <a:tbl>
              <a:tblPr firstRow="0" bandRow="0"/>
              <a:tblGrid>
                <a:gridCol w="2533650"/>
                <a:gridCol w="1095375"/>
                <a:gridCol w="1476375"/>
                <a:gridCol w="1238250"/>
                <a:gridCol w="1419225"/>
                <a:gridCol w="1666875"/>
              </a:tblGrid>
              <a:tr h="533400">
                <a:tc>
                  <a:txBody>
                    <a:bodyPr lIns="114300" tIns="47625" rIns="114300" bIns="47625">
                      <a:noAutofit/>
                    </a:bodyPr>
                    <a:lstStyle/>
                    <a:p>
                      <a:pPr algn="l"/>
                      <a:r>
                        <a:rPr sz="1425" b="1">
                          <a:solidFill>
                            <a:srgbClr val="FFFFFF"/>
                          </a:solidFill>
                          <a:latin typeface="Arial"/>
                          <a:ea typeface="Arial"/>
                          <a:cs typeface="Arial"/>
                        </a:rPr>
                        <a:t>Running application</a:t>
                      </a:r>
                    </a:p>
                  </a:txBody>
                  <a:tcPr marL="91440" marR="91440" marT="45720" marB="45720" anchor="ctr">
                    <a:solidFill>
                      <a:srgbClr val="132E45"/>
                    </a:solidFill>
                  </a:tcPr>
                </a:tc>
                <a:tc>
                  <a:txBody>
                    <a:bodyPr lIns="114300" tIns="47625" rIns="114300" bIns="47625">
                      <a:noAutofit/>
                    </a:bodyPr>
                    <a:lstStyle/>
                    <a:p>
                      <a:pPr algn="r"/>
                      <a:r>
                        <a:rPr sz="1425" b="1">
                          <a:solidFill>
                            <a:srgbClr val="FFFFFF"/>
                          </a:solidFill>
                          <a:latin typeface="Arial"/>
                          <a:ea typeface="Arial"/>
                          <a:cs typeface="Arial"/>
                        </a:rPr>
                        <a:t>Requests</a:t>
                      </a:r>
                    </a:p>
                  </a:txBody>
                  <a:tcPr marL="91440" marR="91440" marT="45720" marB="45720" anchor="ctr">
                    <a:solidFill>
                      <a:srgbClr val="132E45"/>
                    </a:solidFill>
                  </a:tcPr>
                </a:tc>
                <a:tc>
                  <a:txBody>
                    <a:bodyPr lIns="114300" tIns="47625" rIns="114300" bIns="47625">
                      <a:noAutofit/>
                    </a:bodyPr>
                    <a:lstStyle/>
                    <a:p>
                      <a:pPr algn="r"/>
                      <a:r>
                        <a:rPr sz="1425" b="1">
                          <a:solidFill>
                            <a:srgbClr val="FFFFFF"/>
                          </a:solidFill>
                          <a:latin typeface="Arial"/>
                          <a:ea typeface="Arial"/>
                          <a:cs typeface="Arial"/>
                        </a:rPr>
                        <a:t>Avg response</a:t>
                      </a:r>
                    </a:p>
                    <a:p>
                      <a:pPr algn="r"/>
                      <a:r>
                        <a:rPr sz="1425" b="1">
                          <a:solidFill>
                            <a:srgbClr val="FFFFFF"/>
                          </a:solidFill>
                          <a:latin typeface="Arial"/>
                          <a:ea typeface="Arial"/>
                          <a:cs typeface="Arial"/>
                        </a:rPr>
                        <a:t>(ms)</a:t>
                      </a:r>
                    </a:p>
                  </a:txBody>
                  <a:tcPr marL="91440" marR="91440" marT="45720" marB="45720" anchor="ctr">
                    <a:solidFill>
                      <a:srgbClr val="132E45"/>
                    </a:solidFill>
                  </a:tcPr>
                </a:tc>
                <a:tc>
                  <a:txBody>
                    <a:bodyPr lIns="114300" tIns="47625" rIns="114300" bIns="47625">
                      <a:noAutofit/>
                    </a:bodyPr>
                    <a:lstStyle/>
                    <a:p>
                      <a:pPr algn="r"/>
                      <a:r>
                        <a:rPr sz="1425" b="1">
                          <a:solidFill>
                            <a:srgbClr val="FFFFFF"/>
                          </a:solidFill>
                          <a:latin typeface="Arial"/>
                          <a:ea typeface="Arial"/>
                          <a:cs typeface="Arial"/>
                        </a:rPr>
                        <a:t>HTTP 4xx</a:t>
                      </a:r>
                    </a:p>
                    <a:p>
                      <a:pPr algn="r"/>
                      <a:r>
                        <a:rPr sz="1425" b="1">
                          <a:solidFill>
                            <a:srgbClr val="FFFFFF"/>
                          </a:solidFill>
                          <a:latin typeface="Arial"/>
                          <a:ea typeface="Arial"/>
                          <a:cs typeface="Arial"/>
                        </a:rPr>
                        <a:t>(%)</a:t>
                      </a:r>
                    </a:p>
                  </a:txBody>
                  <a:tcPr marL="91440" marR="91440" marT="45720" marB="45720" anchor="ctr">
                    <a:solidFill>
                      <a:srgbClr val="132E45"/>
                    </a:solidFill>
                  </a:tcPr>
                </a:tc>
                <a:tc>
                  <a:txBody>
                    <a:bodyPr lIns="114300" tIns="47625" rIns="114300" bIns="47625">
                      <a:noAutofit/>
                    </a:bodyPr>
                    <a:lstStyle/>
                    <a:p>
                      <a:pPr algn="r"/>
                      <a:r>
                        <a:rPr sz="1425" b="1">
                          <a:solidFill>
                            <a:srgbClr val="FFFFFF"/>
                          </a:solidFill>
                          <a:latin typeface="Arial"/>
                          <a:ea typeface="Arial"/>
                          <a:cs typeface="Arial"/>
                        </a:rPr>
                        <a:t>Plan CPU</a:t>
                      </a:r>
                    </a:p>
                    <a:p>
                      <a:pPr algn="r"/>
                      <a:r>
                        <a:rPr sz="1425" b="1">
                          <a:solidFill>
                            <a:srgbClr val="FFFFFF"/>
                          </a:solidFill>
                          <a:latin typeface="Arial"/>
                          <a:ea typeface="Arial"/>
                          <a:cs typeface="Arial"/>
                        </a:rPr>
                        <a:t>avg (%)</a:t>
                      </a:r>
                    </a:p>
                  </a:txBody>
                  <a:tcPr marL="91440" marR="91440" marT="45720" marB="45720" anchor="ctr">
                    <a:solidFill>
                      <a:srgbClr val="132E45"/>
                    </a:solidFill>
                  </a:tcPr>
                </a:tc>
                <a:tc>
                  <a:txBody>
                    <a:bodyPr lIns="114300" tIns="47625" rIns="114300" bIns="47625">
                      <a:noAutofit/>
                    </a:bodyPr>
                    <a:lstStyle/>
                    <a:p>
                      <a:pPr algn="r"/>
                      <a:r>
                        <a:rPr sz="1425" b="1">
                          <a:solidFill>
                            <a:srgbClr val="FFFFFF"/>
                          </a:solidFill>
                          <a:latin typeface="Arial"/>
                          <a:ea typeface="Arial"/>
                          <a:cs typeface="Arial"/>
                        </a:rPr>
                        <a:t>Plan memory</a:t>
                      </a:r>
                    </a:p>
                    <a:p>
                      <a:pPr algn="r"/>
                      <a:r>
                        <a:rPr sz="1425" b="1">
                          <a:solidFill>
                            <a:srgbClr val="FFFFFF"/>
                          </a:solidFill>
                          <a:latin typeface="Arial"/>
                          <a:ea typeface="Arial"/>
                          <a:cs typeface="Arial"/>
                        </a:rPr>
                        <a:t>avg (%)</a:t>
                      </a:r>
                    </a:p>
                  </a:txBody>
                  <a:tcPr marL="91440" marR="91440" marT="45720" marB="45720" anchor="ctr">
                    <a:solidFill>
                      <a:srgbClr val="132E45"/>
                    </a:solidFill>
                  </a:tcPr>
                </a:tc>
              </a:tr>
              <a:tr h="390525">
                <a:tc>
                  <a:txBody>
                    <a:bodyPr lIns="114300" tIns="47625" rIns="114300" bIns="47625">
                      <a:noAutofit/>
                    </a:bodyPr>
                    <a:lstStyle/>
                    <a:p>
                      <a:pPr algn="l"/>
                      <a:r>
                        <a:rPr sz="1725" b="1">
                          <a:solidFill>
                            <a:srgbClr val="132E45"/>
                          </a:solidFill>
                          <a:latin typeface="Arial"/>
                          <a:ea typeface="Arial"/>
                          <a:cs typeface="Arial"/>
                        </a:rPr>
                        <a:t>Portal</a:t>
                      </a:r>
                    </a:p>
                  </a:txBody>
                  <a:tcPr marL="91440" marR="91440" marT="45720" marB="45720" anchor="ctr">
                    <a:solidFill>
                      <a:srgbClr val="FFFFFF"/>
                    </a:solidFill>
                  </a:tcPr>
                </a:tc>
                <a:tc>
                  <a:txBody>
                    <a:bodyPr lIns="114300" tIns="47625" rIns="114300" bIns="47625">
                      <a:noAutofit/>
                    </a:bodyPr>
                    <a:lstStyle/>
                    <a:p>
                      <a:pPr algn="r"/>
                      <a:r>
                        <a:rPr sz="1725" b="0">
                          <a:solidFill>
                            <a:srgbClr val="132E45"/>
                          </a:solidFill>
                          <a:latin typeface="Arial"/>
                          <a:ea typeface="Arial"/>
                          <a:cs typeface="Arial"/>
                        </a:rPr>
                        <a:t>2,031</a:t>
                      </a:r>
                    </a:p>
                  </a:txBody>
                  <a:tcPr marL="91440" marR="91440" marT="45720" marB="45720" anchor="ctr">
                    <a:solidFill>
                      <a:srgbClr val="FFFFFF"/>
                    </a:solidFill>
                  </a:tcPr>
                </a:tc>
                <a:tc>
                  <a:txBody>
                    <a:bodyPr lIns="114300" tIns="47625" rIns="114300" bIns="47625">
                      <a:noAutofit/>
                    </a:bodyPr>
                    <a:lstStyle/>
                    <a:p>
                      <a:pPr algn="r"/>
                      <a:r>
                        <a:rPr sz="1725" b="0">
                          <a:solidFill>
                            <a:srgbClr val="132E45"/>
                          </a:solidFill>
                          <a:latin typeface="Arial"/>
                          <a:ea typeface="Arial"/>
                          <a:cs typeface="Arial"/>
                        </a:rPr>
                        <a:t>201</a:t>
                      </a:r>
                    </a:p>
                  </a:txBody>
                  <a:tcPr marL="91440" marR="91440" marT="45720" marB="45720" anchor="ctr">
                    <a:solidFill>
                      <a:srgbClr val="FFFFFF"/>
                    </a:solidFill>
                  </a:tcPr>
                </a:tc>
                <a:tc>
                  <a:txBody>
                    <a:bodyPr lIns="114300" tIns="47625" rIns="114300" bIns="47625">
                      <a:noAutofit/>
                    </a:bodyPr>
                    <a:lstStyle/>
                    <a:p>
                      <a:pPr algn="r"/>
                      <a:r>
                        <a:rPr sz="1725" b="0">
                          <a:solidFill>
                            <a:srgbClr val="132E45"/>
                          </a:solidFill>
                          <a:latin typeface="Arial"/>
                          <a:ea typeface="Arial"/>
                          <a:cs typeface="Arial"/>
                        </a:rPr>
                        <a:t>15.0</a:t>
                      </a:r>
                    </a:p>
                  </a:txBody>
                  <a:tcPr marL="91440" marR="91440" marT="45720" marB="45720" anchor="ctr">
                    <a:solidFill>
                      <a:srgbClr val="FFFFFF"/>
                    </a:solidFill>
                  </a:tcPr>
                </a:tc>
                <a:tc>
                  <a:txBody>
                    <a:bodyPr lIns="114300" tIns="47625" rIns="114300" bIns="47625">
                      <a:noAutofit/>
                    </a:bodyPr>
                    <a:lstStyle/>
                    <a:p>
                      <a:pPr algn="r"/>
                      <a:r>
                        <a:rPr sz="1725" b="0">
                          <a:solidFill>
                            <a:srgbClr val="132E45"/>
                          </a:solidFill>
                          <a:latin typeface="Arial"/>
                          <a:ea typeface="Arial"/>
                          <a:cs typeface="Arial"/>
                        </a:rPr>
                        <a:t>18.2</a:t>
                      </a:r>
                    </a:p>
                  </a:txBody>
                  <a:tcPr marL="91440" marR="91440" marT="45720" marB="45720" anchor="ctr">
                    <a:solidFill>
                      <a:srgbClr val="FFFFFF"/>
                    </a:solidFill>
                  </a:tcPr>
                </a:tc>
                <a:tc>
                  <a:txBody>
                    <a:bodyPr lIns="114300" tIns="47625" rIns="114300" bIns="47625">
                      <a:noAutofit/>
                    </a:bodyPr>
                    <a:lstStyle/>
                    <a:p>
                      <a:pPr algn="r"/>
                      <a:r>
                        <a:rPr sz="1725" b="0">
                          <a:solidFill>
                            <a:srgbClr val="132E45"/>
                          </a:solidFill>
                          <a:latin typeface="Arial"/>
                          <a:ea typeface="Arial"/>
                          <a:cs typeface="Arial"/>
                        </a:rPr>
                        <a:t>76.8</a:t>
                      </a:r>
                    </a:p>
                  </a:txBody>
                  <a:tcPr marL="91440" marR="91440" marT="45720" marB="45720" anchor="ctr">
                    <a:solidFill>
                      <a:srgbClr val="FFFFFF"/>
                    </a:solidFill>
                  </a:tcPr>
                </a:tc>
              </a:tr>
              <a:tr h="390525">
                <a:tc>
                  <a:txBody>
                    <a:bodyPr lIns="114300" tIns="47625" rIns="114300" bIns="47625">
                      <a:noAutofit/>
                    </a:bodyPr>
                    <a:lstStyle/>
                    <a:p>
                      <a:pPr algn="l"/>
                      <a:r>
                        <a:rPr sz="1725" b="1">
                          <a:solidFill>
                            <a:srgbClr val="132E45"/>
                          </a:solidFill>
                          <a:latin typeface="Arial"/>
                          <a:ea typeface="Arial"/>
                          <a:cs typeface="Arial"/>
                        </a:rPr>
                        <a:t>Hand Hygiene</a:t>
                      </a:r>
                    </a:p>
                  </a:txBody>
                  <a:tcPr marL="91440" marR="91440" marT="45720" marB="45720" anchor="ctr">
                    <a:solidFill>
                      <a:srgbClr val="EDF3F7"/>
                    </a:solidFill>
                  </a:tcPr>
                </a:tc>
                <a:tc>
                  <a:txBody>
                    <a:bodyPr lIns="114300" tIns="47625" rIns="114300" bIns="47625">
                      <a:noAutofit/>
                    </a:bodyPr>
                    <a:lstStyle/>
                    <a:p>
                      <a:pPr algn="r"/>
                      <a:r>
                        <a:rPr sz="1725" b="0">
                          <a:solidFill>
                            <a:srgbClr val="132E45"/>
                          </a:solidFill>
                          <a:latin typeface="Arial"/>
                          <a:ea typeface="Arial"/>
                          <a:cs typeface="Arial"/>
                        </a:rPr>
                        <a:t>517</a:t>
                      </a:r>
                    </a:p>
                  </a:txBody>
                  <a:tcPr marL="91440" marR="91440" marT="45720" marB="45720" anchor="ctr">
                    <a:solidFill>
                      <a:srgbClr val="EDF3F7"/>
                    </a:solidFill>
                  </a:tcPr>
                </a:tc>
                <a:tc>
                  <a:txBody>
                    <a:bodyPr lIns="114300" tIns="47625" rIns="114300" bIns="47625">
                      <a:noAutofit/>
                    </a:bodyPr>
                    <a:lstStyle/>
                    <a:p>
                      <a:pPr algn="r"/>
                      <a:r>
                        <a:rPr sz="1725" b="0">
                          <a:solidFill>
                            <a:srgbClr val="132E45"/>
                          </a:solidFill>
                          <a:latin typeface="Arial"/>
                          <a:ea typeface="Arial"/>
                          <a:cs typeface="Arial"/>
                        </a:rPr>
                        <a:t>321</a:t>
                      </a:r>
                    </a:p>
                  </a:txBody>
                  <a:tcPr marL="91440" marR="91440" marT="45720" marB="45720" anchor="ctr">
                    <a:solidFill>
                      <a:srgbClr val="EDF3F7"/>
                    </a:solidFill>
                  </a:tcPr>
                </a:tc>
                <a:tc>
                  <a:txBody>
                    <a:bodyPr lIns="114300" tIns="47625" rIns="114300" bIns="47625">
                      <a:noAutofit/>
                    </a:bodyPr>
                    <a:lstStyle/>
                    <a:p>
                      <a:pPr algn="r"/>
                      <a:r>
                        <a:rPr sz="1725" b="0">
                          <a:solidFill>
                            <a:srgbClr val="132E45"/>
                          </a:solidFill>
                          <a:latin typeface="Arial"/>
                          <a:ea typeface="Arial"/>
                          <a:cs typeface="Arial"/>
                        </a:rPr>
                        <a:t>55.9</a:t>
                      </a:r>
                    </a:p>
                  </a:txBody>
                  <a:tcPr marL="91440" marR="91440" marT="45720" marB="45720" anchor="ctr">
                    <a:solidFill>
                      <a:srgbClr val="EDF3F7"/>
                    </a:solidFill>
                  </a:tcPr>
                </a:tc>
                <a:tc>
                  <a:txBody>
                    <a:bodyPr lIns="114300" tIns="47625" rIns="114300" bIns="47625">
                      <a:noAutofit/>
                    </a:bodyPr>
                    <a:lstStyle/>
                    <a:p>
                      <a:pPr algn="r"/>
                      <a:r>
                        <a:rPr sz="1725" b="0">
                          <a:solidFill>
                            <a:srgbClr val="132E45"/>
                          </a:solidFill>
                          <a:latin typeface="Arial"/>
                          <a:ea typeface="Arial"/>
                          <a:cs typeface="Arial"/>
                        </a:rPr>
                        <a:t>20.1</a:t>
                      </a:r>
                    </a:p>
                  </a:txBody>
                  <a:tcPr marL="91440" marR="91440" marT="45720" marB="45720" anchor="ctr">
                    <a:solidFill>
                      <a:srgbClr val="EDF3F7"/>
                    </a:solidFill>
                  </a:tcPr>
                </a:tc>
                <a:tc>
                  <a:txBody>
                    <a:bodyPr lIns="114300" tIns="47625" rIns="114300" bIns="47625">
                      <a:noAutofit/>
                    </a:bodyPr>
                    <a:lstStyle/>
                    <a:p>
                      <a:pPr algn="r"/>
                      <a:r>
                        <a:rPr sz="1725" b="0">
                          <a:solidFill>
                            <a:srgbClr val="132E45"/>
                          </a:solidFill>
                          <a:latin typeface="Arial"/>
                          <a:ea typeface="Arial"/>
                          <a:cs typeface="Arial"/>
                        </a:rPr>
                        <a:t>74.9</a:t>
                      </a:r>
                    </a:p>
                  </a:txBody>
                  <a:tcPr marL="91440" marR="91440" marT="45720" marB="45720" anchor="ctr">
                    <a:solidFill>
                      <a:srgbClr val="EDF3F7"/>
                    </a:solidFill>
                  </a:tcPr>
                </a:tc>
              </a:tr>
              <a:tr h="390525">
                <a:tc>
                  <a:txBody>
                    <a:bodyPr lIns="114300" tIns="47625" rIns="114300" bIns="47625">
                      <a:noAutofit/>
                    </a:bodyPr>
                    <a:lstStyle/>
                    <a:p>
                      <a:pPr algn="l"/>
                      <a:r>
                        <a:rPr sz="1725" b="1">
                          <a:solidFill>
                            <a:srgbClr val="132E45"/>
                          </a:solidFill>
                          <a:latin typeface="Arial"/>
                          <a:ea typeface="Arial"/>
                          <a:cs typeface="Arial"/>
                        </a:rPr>
                        <a:t>HHS</a:t>
                      </a:r>
                    </a:p>
                  </a:txBody>
                  <a:tcPr marL="91440" marR="91440" marT="45720" marB="45720" anchor="ctr">
                    <a:solidFill>
                      <a:srgbClr val="FFFFFF"/>
                    </a:solidFill>
                  </a:tcPr>
                </a:tc>
                <a:tc>
                  <a:txBody>
                    <a:bodyPr lIns="114300" tIns="47625" rIns="114300" bIns="47625">
                      <a:noAutofit/>
                    </a:bodyPr>
                    <a:lstStyle/>
                    <a:p>
                      <a:pPr algn="r"/>
                      <a:r>
                        <a:rPr sz="1725" b="0">
                          <a:solidFill>
                            <a:srgbClr val="132E45"/>
                          </a:solidFill>
                          <a:latin typeface="Arial"/>
                          <a:ea typeface="Arial"/>
                          <a:cs typeface="Arial"/>
                        </a:rPr>
                        <a:t>397</a:t>
                      </a:r>
                    </a:p>
                  </a:txBody>
                  <a:tcPr marL="91440" marR="91440" marT="45720" marB="45720" anchor="ctr">
                    <a:solidFill>
                      <a:srgbClr val="FFFFFF"/>
                    </a:solidFill>
                  </a:tcPr>
                </a:tc>
                <a:tc>
                  <a:txBody>
                    <a:bodyPr lIns="114300" tIns="47625" rIns="114300" bIns="47625">
                      <a:noAutofit/>
                    </a:bodyPr>
                    <a:lstStyle/>
                    <a:p>
                      <a:pPr algn="r"/>
                      <a:r>
                        <a:rPr sz="1725" b="0">
                          <a:solidFill>
                            <a:srgbClr val="132E45"/>
                          </a:solidFill>
                          <a:latin typeface="Arial"/>
                          <a:ea typeface="Arial"/>
                          <a:cs typeface="Arial"/>
                        </a:rPr>
                        <a:t>146</a:t>
                      </a:r>
                    </a:p>
                  </a:txBody>
                  <a:tcPr marL="91440" marR="91440" marT="45720" marB="45720" anchor="ctr">
                    <a:solidFill>
                      <a:srgbClr val="FFFFFF"/>
                    </a:solidFill>
                  </a:tcPr>
                </a:tc>
                <a:tc>
                  <a:txBody>
                    <a:bodyPr lIns="114300" tIns="47625" rIns="114300" bIns="47625">
                      <a:noAutofit/>
                    </a:bodyPr>
                    <a:lstStyle/>
                    <a:p>
                      <a:pPr algn="r"/>
                      <a:r>
                        <a:rPr sz="1725" b="0">
                          <a:solidFill>
                            <a:srgbClr val="132E45"/>
                          </a:solidFill>
                          <a:latin typeface="Arial"/>
                          <a:ea typeface="Arial"/>
                          <a:cs typeface="Arial"/>
                        </a:rPr>
                        <a:t>72.5</a:t>
                      </a:r>
                    </a:p>
                  </a:txBody>
                  <a:tcPr marL="91440" marR="91440" marT="45720" marB="45720" anchor="ctr">
                    <a:solidFill>
                      <a:srgbClr val="FFFFFF"/>
                    </a:solidFill>
                  </a:tcPr>
                </a:tc>
                <a:tc>
                  <a:txBody>
                    <a:bodyPr lIns="114300" tIns="47625" rIns="114300" bIns="47625">
                      <a:noAutofit/>
                    </a:bodyPr>
                    <a:lstStyle/>
                    <a:p>
                      <a:pPr algn="r"/>
                      <a:r>
                        <a:rPr sz="1725" b="0">
                          <a:solidFill>
                            <a:srgbClr val="132E45"/>
                          </a:solidFill>
                          <a:latin typeface="Arial"/>
                          <a:ea typeface="Arial"/>
                          <a:cs typeface="Arial"/>
                        </a:rPr>
                        <a:t>15.4</a:t>
                      </a:r>
                    </a:p>
                  </a:txBody>
                  <a:tcPr marL="91440" marR="91440" marT="45720" marB="45720" anchor="ctr">
                    <a:solidFill>
                      <a:srgbClr val="FFFFFF"/>
                    </a:solidFill>
                  </a:tcPr>
                </a:tc>
                <a:tc>
                  <a:txBody>
                    <a:bodyPr lIns="114300" tIns="47625" rIns="114300" bIns="47625">
                      <a:noAutofit/>
                    </a:bodyPr>
                    <a:lstStyle/>
                    <a:p>
                      <a:pPr algn="r"/>
                      <a:r>
                        <a:rPr sz="1725" b="0">
                          <a:solidFill>
                            <a:srgbClr val="132E45"/>
                          </a:solidFill>
                          <a:latin typeface="Arial"/>
                          <a:ea typeface="Arial"/>
                          <a:cs typeface="Arial"/>
                        </a:rPr>
                        <a:t>76.0</a:t>
                      </a:r>
                    </a:p>
                  </a:txBody>
                  <a:tcPr marL="91440" marR="91440" marT="45720" marB="45720" anchor="ctr">
                    <a:solidFill>
                      <a:srgbClr val="FFFFFF"/>
                    </a:solidFill>
                  </a:tcPr>
                </a:tc>
              </a:tr>
              <a:tr h="390525">
                <a:tc>
                  <a:txBody>
                    <a:bodyPr lIns="114300" tIns="47625" rIns="114300" bIns="47625">
                      <a:noAutofit/>
                    </a:bodyPr>
                    <a:lstStyle/>
                    <a:p>
                      <a:pPr algn="l"/>
                      <a:r>
                        <a:rPr sz="1725" b="1">
                          <a:solidFill>
                            <a:srgbClr val="132E45"/>
                          </a:solidFill>
                          <a:latin typeface="Arial"/>
                          <a:ea typeface="Arial"/>
                          <a:cs typeface="Arial"/>
                        </a:rPr>
                        <a:t>Audit Log</a:t>
                      </a:r>
                    </a:p>
                  </a:txBody>
                  <a:tcPr marL="91440" marR="91440" marT="45720" marB="45720" anchor="ctr">
                    <a:solidFill>
                      <a:srgbClr val="EDF3F7"/>
                    </a:solidFill>
                  </a:tcPr>
                </a:tc>
                <a:tc>
                  <a:txBody>
                    <a:bodyPr lIns="114300" tIns="47625" rIns="114300" bIns="47625">
                      <a:noAutofit/>
                    </a:bodyPr>
                    <a:lstStyle/>
                    <a:p>
                      <a:pPr algn="r"/>
                      <a:r>
                        <a:rPr sz="1725" b="0">
                          <a:solidFill>
                            <a:srgbClr val="132E45"/>
                          </a:solidFill>
                          <a:latin typeface="Arial"/>
                          <a:ea typeface="Arial"/>
                          <a:cs typeface="Arial"/>
                        </a:rPr>
                        <a:t>288</a:t>
                      </a:r>
                    </a:p>
                  </a:txBody>
                  <a:tcPr marL="91440" marR="91440" marT="45720" marB="45720" anchor="ctr">
                    <a:solidFill>
                      <a:srgbClr val="EDF3F7"/>
                    </a:solidFill>
                  </a:tcPr>
                </a:tc>
                <a:tc>
                  <a:txBody>
                    <a:bodyPr lIns="114300" tIns="47625" rIns="114300" bIns="47625">
                      <a:noAutofit/>
                    </a:bodyPr>
                    <a:lstStyle/>
                    <a:p>
                      <a:pPr algn="r"/>
                      <a:r>
                        <a:rPr sz="1725" b="0">
                          <a:solidFill>
                            <a:srgbClr val="132E45"/>
                          </a:solidFill>
                          <a:latin typeface="Arial"/>
                          <a:ea typeface="Arial"/>
                          <a:cs typeface="Arial"/>
                        </a:rPr>
                        <a:t>70</a:t>
                      </a:r>
                    </a:p>
                  </a:txBody>
                  <a:tcPr marL="91440" marR="91440" marT="45720" marB="45720" anchor="ctr">
                    <a:solidFill>
                      <a:srgbClr val="EDF3F7"/>
                    </a:solidFill>
                  </a:tcPr>
                </a:tc>
                <a:tc>
                  <a:txBody>
                    <a:bodyPr lIns="114300" tIns="47625" rIns="114300" bIns="47625">
                      <a:noAutofit/>
                    </a:bodyPr>
                    <a:lstStyle/>
                    <a:p>
                      <a:pPr algn="r"/>
                      <a:r>
                        <a:rPr sz="1725" b="1">
                          <a:solidFill>
                            <a:srgbClr val="9B4C0A"/>
                          </a:solidFill>
                          <a:latin typeface="Arial"/>
                          <a:ea typeface="Arial"/>
                          <a:cs typeface="Arial"/>
                        </a:rPr>
                        <a:t>100.0</a:t>
                      </a:r>
                    </a:p>
                  </a:txBody>
                  <a:tcPr marL="91440" marR="91440" marT="45720" marB="45720" anchor="ctr">
                    <a:solidFill>
                      <a:srgbClr val="EDF3F7"/>
                    </a:solidFill>
                  </a:tcPr>
                </a:tc>
                <a:tc>
                  <a:txBody>
                    <a:bodyPr lIns="114300" tIns="47625" rIns="114300" bIns="47625">
                      <a:noAutofit/>
                    </a:bodyPr>
                    <a:lstStyle/>
                    <a:p>
                      <a:pPr algn="r"/>
                      <a:r>
                        <a:rPr sz="1725" b="0">
                          <a:solidFill>
                            <a:srgbClr val="132E45"/>
                          </a:solidFill>
                          <a:latin typeface="Arial"/>
                          <a:ea typeface="Arial"/>
                          <a:cs typeface="Arial"/>
                        </a:rPr>
                        <a:t>22.8</a:t>
                      </a:r>
                    </a:p>
                  </a:txBody>
                  <a:tcPr marL="91440" marR="91440" marT="45720" marB="45720" anchor="ctr">
                    <a:solidFill>
                      <a:srgbClr val="EDF3F7"/>
                    </a:solidFill>
                  </a:tcPr>
                </a:tc>
                <a:tc>
                  <a:txBody>
                    <a:bodyPr lIns="114300" tIns="47625" rIns="114300" bIns="47625">
                      <a:noAutofit/>
                    </a:bodyPr>
                    <a:lstStyle/>
                    <a:p>
                      <a:pPr algn="r"/>
                      <a:r>
                        <a:rPr sz="1725" b="0">
                          <a:solidFill>
                            <a:srgbClr val="132E45"/>
                          </a:solidFill>
                          <a:latin typeface="Arial"/>
                          <a:ea typeface="Arial"/>
                          <a:cs typeface="Arial"/>
                        </a:rPr>
                        <a:t>76.4</a:t>
                      </a:r>
                    </a:p>
                  </a:txBody>
                  <a:tcPr marL="91440" marR="91440" marT="45720" marB="45720" anchor="ctr">
                    <a:solidFill>
                      <a:srgbClr val="EDF3F7"/>
                    </a:solidFill>
                  </a:tcPr>
                </a:tc>
              </a:tr>
              <a:tr h="390525">
                <a:tc>
                  <a:txBody>
                    <a:bodyPr lIns="114300" tIns="47625" rIns="114300" bIns="47625">
                      <a:noAutofit/>
                    </a:bodyPr>
                    <a:lstStyle/>
                    <a:p>
                      <a:pPr algn="l"/>
                      <a:r>
                        <a:rPr sz="1725" b="1">
                          <a:solidFill>
                            <a:srgbClr val="132E45"/>
                          </a:solidFill>
                          <a:latin typeface="Arial"/>
                          <a:ea typeface="Arial"/>
                          <a:cs typeface="Arial"/>
                        </a:rPr>
                        <a:t>Labor Pool</a:t>
                      </a:r>
                    </a:p>
                  </a:txBody>
                  <a:tcPr marL="91440" marR="91440" marT="45720" marB="45720" anchor="ctr">
                    <a:solidFill>
                      <a:srgbClr val="FFFFFF"/>
                    </a:solidFill>
                  </a:tcPr>
                </a:tc>
                <a:tc>
                  <a:txBody>
                    <a:bodyPr lIns="114300" tIns="47625" rIns="114300" bIns="47625">
                      <a:noAutofit/>
                    </a:bodyPr>
                    <a:lstStyle/>
                    <a:p>
                      <a:pPr algn="r"/>
                      <a:r>
                        <a:rPr sz="1725" b="0">
                          <a:solidFill>
                            <a:srgbClr val="132E45"/>
                          </a:solidFill>
                          <a:latin typeface="Arial"/>
                          <a:ea typeface="Arial"/>
                          <a:cs typeface="Arial"/>
                        </a:rPr>
                        <a:t>288</a:t>
                      </a:r>
                    </a:p>
                  </a:txBody>
                  <a:tcPr marL="91440" marR="91440" marT="45720" marB="45720" anchor="ctr">
                    <a:solidFill>
                      <a:srgbClr val="FFFFFF"/>
                    </a:solidFill>
                  </a:tcPr>
                </a:tc>
                <a:tc>
                  <a:txBody>
                    <a:bodyPr lIns="114300" tIns="47625" rIns="114300" bIns="47625">
                      <a:noAutofit/>
                    </a:bodyPr>
                    <a:lstStyle/>
                    <a:p>
                      <a:pPr algn="r"/>
                      <a:r>
                        <a:rPr sz="1725" b="0">
                          <a:solidFill>
                            <a:srgbClr val="132E45"/>
                          </a:solidFill>
                          <a:latin typeface="Arial"/>
                          <a:ea typeface="Arial"/>
                          <a:cs typeface="Arial"/>
                        </a:rPr>
                        <a:t>37</a:t>
                      </a:r>
                    </a:p>
                  </a:txBody>
                  <a:tcPr marL="91440" marR="91440" marT="45720" marB="45720" anchor="ctr">
                    <a:solidFill>
                      <a:srgbClr val="FFFFFF"/>
                    </a:solidFill>
                  </a:tcPr>
                </a:tc>
                <a:tc>
                  <a:txBody>
                    <a:bodyPr lIns="114300" tIns="47625" rIns="114300" bIns="47625">
                      <a:noAutofit/>
                    </a:bodyPr>
                    <a:lstStyle/>
                    <a:p>
                      <a:pPr algn="r"/>
                      <a:r>
                        <a:rPr sz="1725" b="1">
                          <a:solidFill>
                            <a:srgbClr val="9B4C0A"/>
                          </a:solidFill>
                          <a:latin typeface="Arial"/>
                          <a:ea typeface="Arial"/>
                          <a:cs typeface="Arial"/>
                        </a:rPr>
                        <a:t>100.0</a:t>
                      </a:r>
                    </a:p>
                  </a:txBody>
                  <a:tcPr marL="91440" marR="91440" marT="45720" marB="45720" anchor="ctr">
                    <a:solidFill>
                      <a:srgbClr val="FFFFFF"/>
                    </a:solidFill>
                  </a:tcPr>
                </a:tc>
                <a:tc>
                  <a:txBody>
                    <a:bodyPr lIns="114300" tIns="47625" rIns="114300" bIns="47625">
                      <a:noAutofit/>
                    </a:bodyPr>
                    <a:lstStyle/>
                    <a:p>
                      <a:pPr algn="r"/>
                      <a:r>
                        <a:rPr sz="1725" b="0">
                          <a:solidFill>
                            <a:srgbClr val="132E45"/>
                          </a:solidFill>
                          <a:latin typeface="Arial"/>
                          <a:ea typeface="Arial"/>
                          <a:cs typeface="Arial"/>
                        </a:rPr>
                        <a:t>18.3</a:t>
                      </a:r>
                    </a:p>
                  </a:txBody>
                  <a:tcPr marL="91440" marR="91440" marT="45720" marB="45720" anchor="ctr">
                    <a:solidFill>
                      <a:srgbClr val="FFFFFF"/>
                    </a:solidFill>
                  </a:tcPr>
                </a:tc>
                <a:tc>
                  <a:txBody>
                    <a:bodyPr lIns="114300" tIns="47625" rIns="114300" bIns="47625">
                      <a:noAutofit/>
                    </a:bodyPr>
                    <a:lstStyle/>
                    <a:p>
                      <a:pPr algn="r"/>
                      <a:r>
                        <a:rPr sz="1725" b="0">
                          <a:solidFill>
                            <a:srgbClr val="132E45"/>
                          </a:solidFill>
                          <a:latin typeface="Arial"/>
                          <a:ea typeface="Arial"/>
                          <a:cs typeface="Arial"/>
                        </a:rPr>
                        <a:t>73.8</a:t>
                      </a:r>
                    </a:p>
                  </a:txBody>
                  <a:tcPr marL="91440" marR="91440" marT="45720" marB="45720" anchor="ctr">
                    <a:solidFill>
                      <a:srgbClr val="FFFFFF"/>
                    </a:solidFill>
                  </a:tcPr>
                </a:tc>
              </a:tr>
              <a:tr h="390525">
                <a:tc>
                  <a:txBody>
                    <a:bodyPr lIns="114300" tIns="47625" rIns="114300" bIns="47625">
                      <a:noAutofit/>
                    </a:bodyPr>
                    <a:lstStyle/>
                    <a:p>
                      <a:pPr algn="l"/>
                      <a:r>
                        <a:rPr sz="1725" b="1">
                          <a:solidFill>
                            <a:srgbClr val="132E45"/>
                          </a:solidFill>
                          <a:latin typeface="Arial"/>
                          <a:ea typeface="Arial"/>
                          <a:cs typeface="Arial"/>
                        </a:rPr>
                        <a:t>Notification Service</a:t>
                      </a:r>
                    </a:p>
                  </a:txBody>
                  <a:tcPr marL="91440" marR="91440" marT="45720" marB="45720" anchor="ctr">
                    <a:solidFill>
                      <a:srgbClr val="EDF3F7"/>
                    </a:solidFill>
                  </a:tcPr>
                </a:tc>
                <a:tc>
                  <a:txBody>
                    <a:bodyPr lIns="114300" tIns="47625" rIns="114300" bIns="47625">
                      <a:noAutofit/>
                    </a:bodyPr>
                    <a:lstStyle/>
                    <a:p>
                      <a:pPr algn="r"/>
                      <a:r>
                        <a:rPr sz="1725" b="0">
                          <a:solidFill>
                            <a:srgbClr val="132E45"/>
                          </a:solidFill>
                          <a:latin typeface="Arial"/>
                          <a:ea typeface="Arial"/>
                          <a:cs typeface="Arial"/>
                        </a:rPr>
                        <a:t>287</a:t>
                      </a:r>
                    </a:p>
                  </a:txBody>
                  <a:tcPr marL="91440" marR="91440" marT="45720" marB="45720" anchor="ctr">
                    <a:solidFill>
                      <a:srgbClr val="EDF3F7"/>
                    </a:solidFill>
                  </a:tcPr>
                </a:tc>
                <a:tc>
                  <a:txBody>
                    <a:bodyPr lIns="114300" tIns="47625" rIns="114300" bIns="47625">
                      <a:noAutofit/>
                    </a:bodyPr>
                    <a:lstStyle/>
                    <a:p>
                      <a:pPr algn="r"/>
                      <a:r>
                        <a:rPr sz="1725" b="0">
                          <a:solidFill>
                            <a:srgbClr val="132E45"/>
                          </a:solidFill>
                          <a:latin typeface="Arial"/>
                          <a:ea typeface="Arial"/>
                          <a:cs typeface="Arial"/>
                        </a:rPr>
                        <a:t>26</a:t>
                      </a:r>
                    </a:p>
                  </a:txBody>
                  <a:tcPr marL="91440" marR="91440" marT="45720" marB="45720" anchor="ctr">
                    <a:solidFill>
                      <a:srgbClr val="EDF3F7"/>
                    </a:solidFill>
                  </a:tcPr>
                </a:tc>
                <a:tc>
                  <a:txBody>
                    <a:bodyPr lIns="114300" tIns="47625" rIns="114300" bIns="47625">
                      <a:noAutofit/>
                    </a:bodyPr>
                    <a:lstStyle/>
                    <a:p>
                      <a:pPr algn="r"/>
                      <a:r>
                        <a:rPr sz="1725" b="1">
                          <a:solidFill>
                            <a:srgbClr val="9B4C0A"/>
                          </a:solidFill>
                          <a:latin typeface="Arial"/>
                          <a:ea typeface="Arial"/>
                          <a:cs typeface="Arial"/>
                        </a:rPr>
                        <a:t>100.0</a:t>
                      </a:r>
                    </a:p>
                  </a:txBody>
                  <a:tcPr marL="91440" marR="91440" marT="45720" marB="45720" anchor="ctr">
                    <a:solidFill>
                      <a:srgbClr val="EDF3F7"/>
                    </a:solidFill>
                  </a:tcPr>
                </a:tc>
                <a:tc>
                  <a:txBody>
                    <a:bodyPr lIns="114300" tIns="47625" rIns="114300" bIns="47625">
                      <a:noAutofit/>
                    </a:bodyPr>
                    <a:lstStyle/>
                    <a:p>
                      <a:pPr algn="r"/>
                      <a:r>
                        <a:rPr sz="1725" b="0">
                          <a:solidFill>
                            <a:srgbClr val="132E45"/>
                          </a:solidFill>
                          <a:latin typeface="Arial"/>
                          <a:ea typeface="Arial"/>
                          <a:cs typeface="Arial"/>
                        </a:rPr>
                        <a:t>20.6</a:t>
                      </a:r>
                    </a:p>
                  </a:txBody>
                  <a:tcPr marL="91440" marR="91440" marT="45720" marB="45720" anchor="ctr">
                    <a:solidFill>
                      <a:srgbClr val="EDF3F7"/>
                    </a:solidFill>
                  </a:tcPr>
                </a:tc>
                <a:tc>
                  <a:txBody>
                    <a:bodyPr lIns="114300" tIns="47625" rIns="114300" bIns="47625">
                      <a:noAutofit/>
                    </a:bodyPr>
                    <a:lstStyle/>
                    <a:p>
                      <a:pPr algn="r"/>
                      <a:r>
                        <a:rPr sz="1725" b="0">
                          <a:solidFill>
                            <a:srgbClr val="132E45"/>
                          </a:solidFill>
                          <a:latin typeface="Arial"/>
                          <a:ea typeface="Arial"/>
                          <a:cs typeface="Arial"/>
                        </a:rPr>
                        <a:t>74.2</a:t>
                      </a:r>
                    </a:p>
                  </a:txBody>
                  <a:tcPr marL="91440" marR="91440" marT="45720" marB="45720" anchor="ctr">
                    <a:solidFill>
                      <a:srgbClr val="EDF3F7"/>
                    </a:solidFill>
                  </a:tcPr>
                </a:tc>
              </a:tr>
              <a:tr h="390525">
                <a:tc>
                  <a:txBody>
                    <a:bodyPr lIns="114300" tIns="47625" rIns="114300" bIns="47625">
                      <a:noAutofit/>
                    </a:bodyPr>
                    <a:lstStyle/>
                    <a:p>
                      <a:pPr algn="l"/>
                      <a:r>
                        <a:rPr sz="1725" b="1">
                          <a:solidFill>
                            <a:srgbClr val="132E45"/>
                          </a:solidFill>
                          <a:latin typeface="Arial"/>
                          <a:ea typeface="Arial"/>
                          <a:cs typeface="Arial"/>
                        </a:rPr>
                        <a:t>PMM</a:t>
                      </a:r>
                    </a:p>
                  </a:txBody>
                  <a:tcPr marL="91440" marR="91440" marT="45720" marB="45720" anchor="ctr">
                    <a:solidFill>
                      <a:srgbClr val="FFFFFF"/>
                    </a:solidFill>
                  </a:tcPr>
                </a:tc>
                <a:tc>
                  <a:txBody>
                    <a:bodyPr lIns="114300" tIns="47625" rIns="114300" bIns="47625">
                      <a:noAutofit/>
                    </a:bodyPr>
                    <a:lstStyle/>
                    <a:p>
                      <a:pPr algn="r"/>
                      <a:r>
                        <a:rPr sz="1725" b="0">
                          <a:solidFill>
                            <a:srgbClr val="132E45"/>
                          </a:solidFill>
                          <a:latin typeface="Arial"/>
                          <a:ea typeface="Arial"/>
                          <a:cs typeface="Arial"/>
                        </a:rPr>
                        <a:t>287</a:t>
                      </a:r>
                    </a:p>
                  </a:txBody>
                  <a:tcPr marL="91440" marR="91440" marT="45720" marB="45720" anchor="ctr">
                    <a:solidFill>
                      <a:srgbClr val="FFFFFF"/>
                    </a:solidFill>
                  </a:tcPr>
                </a:tc>
                <a:tc>
                  <a:txBody>
                    <a:bodyPr lIns="114300" tIns="47625" rIns="114300" bIns="47625">
                      <a:noAutofit/>
                    </a:bodyPr>
                    <a:lstStyle/>
                    <a:p>
                      <a:pPr algn="r"/>
                      <a:r>
                        <a:rPr sz="1725" b="0">
                          <a:solidFill>
                            <a:srgbClr val="132E45"/>
                          </a:solidFill>
                          <a:latin typeface="Arial"/>
                          <a:ea typeface="Arial"/>
                          <a:cs typeface="Arial"/>
                        </a:rPr>
                        <a:t>38</a:t>
                      </a:r>
                    </a:p>
                  </a:txBody>
                  <a:tcPr marL="91440" marR="91440" marT="45720" marB="45720" anchor="ctr">
                    <a:solidFill>
                      <a:srgbClr val="FFFFFF"/>
                    </a:solidFill>
                  </a:tcPr>
                </a:tc>
                <a:tc>
                  <a:txBody>
                    <a:bodyPr lIns="114300" tIns="47625" rIns="114300" bIns="47625">
                      <a:noAutofit/>
                    </a:bodyPr>
                    <a:lstStyle/>
                    <a:p>
                      <a:pPr algn="r"/>
                      <a:r>
                        <a:rPr sz="1725" b="1">
                          <a:solidFill>
                            <a:srgbClr val="9B4C0A"/>
                          </a:solidFill>
                          <a:latin typeface="Arial"/>
                          <a:ea typeface="Arial"/>
                          <a:cs typeface="Arial"/>
                        </a:rPr>
                        <a:t>100.0</a:t>
                      </a:r>
                    </a:p>
                  </a:txBody>
                  <a:tcPr marL="91440" marR="91440" marT="45720" marB="45720" anchor="ctr">
                    <a:solidFill>
                      <a:srgbClr val="FFFFFF"/>
                    </a:solidFill>
                  </a:tcPr>
                </a:tc>
                <a:tc>
                  <a:txBody>
                    <a:bodyPr lIns="114300" tIns="47625" rIns="114300" bIns="47625">
                      <a:noAutofit/>
                    </a:bodyPr>
                    <a:lstStyle/>
                    <a:p>
                      <a:pPr algn="r"/>
                      <a:r>
                        <a:rPr sz="1725" b="0">
                          <a:solidFill>
                            <a:srgbClr val="132E45"/>
                          </a:solidFill>
                          <a:latin typeface="Arial"/>
                          <a:ea typeface="Arial"/>
                          <a:cs typeface="Arial"/>
                        </a:rPr>
                        <a:t>21.3</a:t>
                      </a:r>
                    </a:p>
                  </a:txBody>
                  <a:tcPr marL="91440" marR="91440" marT="45720" marB="45720" anchor="ctr">
                    <a:solidFill>
                      <a:srgbClr val="FFFFFF"/>
                    </a:solidFill>
                  </a:tcPr>
                </a:tc>
                <a:tc>
                  <a:txBody>
                    <a:bodyPr lIns="114300" tIns="47625" rIns="114300" bIns="47625">
                      <a:noAutofit/>
                    </a:bodyPr>
                    <a:lstStyle/>
                    <a:p>
                      <a:pPr algn="r"/>
                      <a:r>
                        <a:rPr sz="1725" b="0">
                          <a:solidFill>
                            <a:srgbClr val="132E45"/>
                          </a:solidFill>
                          <a:latin typeface="Arial"/>
                          <a:ea typeface="Arial"/>
                          <a:cs typeface="Arial"/>
                        </a:rPr>
                        <a:t>72.5</a:t>
                      </a:r>
                    </a:p>
                  </a:txBody>
                  <a:tcPr marL="91440" marR="91440" marT="45720" marB="45720" anchor="ctr">
                    <a:solidFill>
                      <a:srgbClr val="FFFFFF"/>
                    </a:solidFill>
                  </a:tcPr>
                </a:tc>
              </a:tr>
            </a:tbl>
          </a:graphicData>
        </a:graphic>
      </p:graphicFrame>
      <p:sp>
        <p:nvSpPr>
          <p:cNvPr id="10" name="Main finding">
            <a:extLst xmlns:a="http://schemas.openxmlformats.org/drawingml/2006/main">
              <a:ext uri="{FF2B5EF4-FFF2-40B4-BE49-F238E27FC236}">
                <a16:creationId xmlns:a16="http://schemas.microsoft.com/office/drawing/2014/main" id="{D0C052C0-1592-430B-A3B1-C09012CCE597}"/>
              </a:ext>
            </a:extLst>
          </p:cNvPr>
          <p:cNvSpPr>
            <a:spLocks xmlns:a="http://schemas.openxmlformats.org/drawingml/2006/main" noGrp="1"/>
          </p:cNvSpPr>
          <p:nvPr/>
        </p:nvSpPr>
        <p:spPr>
          <a:xfrm xmlns:a="http://schemas.openxmlformats.org/drawingml/2006/main">
            <a:off x="10287000" y="2790825"/>
            <a:ext cx="2971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9B4C0A"/>
                </a:solidFill>
                <a:latin typeface="Arial"/>
                <a:ea typeface="Arial"/>
                <a:cs typeface="Arial"/>
              </a:defRPr>
            </a:pPr>
            <a:r>
              <a:rPr sz="2175" b="1">
                <a:solidFill>
                  <a:srgbClr val="9B4C0A"/>
                </a:solidFill>
                <a:latin typeface="Arial"/>
                <a:ea typeface="Arial"/>
                <a:cs typeface="Arial"/>
              </a:rPr>
              <a:t>Four apps returned</a:t>
            </a:r>
          </a:p>
          <a:p xmlns:a="http://schemas.openxmlformats.org/drawingml/2006/main">
            <a:pPr>
              <a:defRPr sz="2175" b="1">
                <a:solidFill>
                  <a:srgbClr val="9B4C0A"/>
                </a:solidFill>
                <a:latin typeface="Arial"/>
                <a:ea typeface="Arial"/>
                <a:cs typeface="Arial"/>
              </a:defRPr>
            </a:pPr>
            <a:r>
              <a:rPr sz="2175" b="1">
                <a:solidFill>
                  <a:srgbClr val="9B4C0A"/>
                </a:solidFill>
                <a:latin typeface="Arial"/>
                <a:ea typeface="Arial"/>
                <a:cs typeface="Arial"/>
              </a:rPr>
              <a:t>only HTTP 4xx</a:t>
            </a:r>
          </a:p>
        </p:txBody>
      </p:sp>
      <p:sp>
        <p:nvSpPr>
          <p:cNvPr id="11" name="Response details">
            <a:extLst xmlns:a="http://schemas.openxmlformats.org/drawingml/2006/main">
              <a:ext uri="{FF2B5EF4-FFF2-40B4-BE49-F238E27FC236}">
                <a16:creationId xmlns:a16="http://schemas.microsoft.com/office/drawing/2014/main" id="{BBE17A8D-71F8-4D30-8009-D7EF19F61BC6}"/>
              </a:ext>
            </a:extLst>
          </p:cNvPr>
          <p:cNvSpPr>
            <a:spLocks xmlns:a="http://schemas.openxmlformats.org/drawingml/2006/main" noGrp="1"/>
          </p:cNvSpPr>
          <p:nvPr/>
        </p:nvSpPr>
        <p:spPr>
          <a:xfrm xmlns:a="http://schemas.openxmlformats.org/drawingml/2006/main">
            <a:off x="10287000" y="3695700"/>
            <a:ext cx="297180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0">
                <a:solidFill>
                  <a:srgbClr val="132E45"/>
                </a:solidFill>
                <a:latin typeface="Arial"/>
                <a:ea typeface="Arial"/>
                <a:cs typeface="Arial"/>
              </a:defRPr>
            </a:pPr>
            <a:r>
              <a:rPr sz="1575" b="0">
                <a:solidFill>
                  <a:srgbClr val="132E45"/>
                </a:solidFill>
                <a:latin typeface="Arial"/>
                <a:ea typeface="Arial"/>
                <a:cs typeface="Arial"/>
              </a:rPr>
              <a:t>Notification and Labor Pool:</a:t>
            </a:r>
          </a:p>
          <a:p xmlns:a="http://schemas.openxmlformats.org/drawingml/2006/main">
            <a:pPr>
              <a:defRPr sz="1575" b="0">
                <a:solidFill>
                  <a:srgbClr val="132E45"/>
                </a:solidFill>
                <a:latin typeface="Arial"/>
                <a:ea typeface="Arial"/>
                <a:cs typeface="Arial"/>
              </a:defRPr>
            </a:pPr>
            <a:r>
              <a:rPr sz="1575" b="0">
                <a:solidFill>
                  <a:srgbClr val="132E45"/>
                </a:solidFill>
                <a:latin typeface="Arial"/>
                <a:ea typeface="Arial"/>
                <a:cs typeface="Arial"/>
              </a:rPr>
              <a:t>all responses were 404</a:t>
            </a:r>
          </a:p>
          <a:p xmlns:a="http://schemas.openxmlformats.org/drawingml/2006/main">
            <a:r>
              <a:t/>
            </a:r>
          </a:p>
          <a:p xmlns:a="http://schemas.openxmlformats.org/drawingml/2006/main">
            <a:pPr>
              <a:defRPr sz="1575" b="0">
                <a:solidFill>
                  <a:srgbClr val="132E45"/>
                </a:solidFill>
                <a:latin typeface="Arial"/>
                <a:ea typeface="Arial"/>
                <a:cs typeface="Arial"/>
              </a:defRPr>
            </a:pPr>
            <a:r>
              <a:rPr sz="1575" b="0">
                <a:solidFill>
                  <a:srgbClr val="132E45"/>
                </a:solidFill>
                <a:latin typeface="Arial"/>
                <a:ea typeface="Arial"/>
                <a:cs typeface="Arial"/>
              </a:rPr>
              <a:t>PMM: all responses were 401</a:t>
            </a:r>
          </a:p>
          <a:p xmlns:a="http://schemas.openxmlformats.org/drawingml/2006/main">
            <a:r>
              <a:t/>
            </a:r>
          </a:p>
          <a:p xmlns:a="http://schemas.openxmlformats.org/drawingml/2006/main">
            <a:pPr>
              <a:defRPr sz="1575" b="0">
                <a:solidFill>
                  <a:srgbClr val="132E45"/>
                </a:solidFill>
                <a:latin typeface="Arial"/>
                <a:ea typeface="Arial"/>
                <a:cs typeface="Arial"/>
              </a:defRPr>
            </a:pPr>
            <a:r>
              <a:rPr sz="1575" b="0">
                <a:solidFill>
                  <a:srgbClr val="132E45"/>
                </a:solidFill>
                <a:latin typeface="Arial"/>
                <a:ea typeface="Arial"/>
                <a:cs typeface="Arial"/>
              </a:rPr>
              <a:t>Audit Log: 287 of 288 were 404</a:t>
            </a:r>
          </a:p>
        </p:txBody>
      </p:sp>
      <p:sp>
        <p:nvSpPr>
          <p:cNvPr id="12" name="Memory peak">
            <a:extLst xmlns:a="http://schemas.openxmlformats.org/drawingml/2006/main">
              <a:ext uri="{FF2B5EF4-FFF2-40B4-BE49-F238E27FC236}">
                <a16:creationId xmlns:a16="http://schemas.microsoft.com/office/drawing/2014/main" id="{9D8FB432-0B3D-48C8-A181-4038A9822878}"/>
              </a:ext>
            </a:extLst>
          </p:cNvPr>
          <p:cNvSpPr>
            <a:spLocks xmlns:a="http://schemas.openxmlformats.org/drawingml/2006/main" noGrp="1"/>
          </p:cNvSpPr>
          <p:nvPr/>
        </p:nvSpPr>
        <p:spPr>
          <a:xfrm xmlns:a="http://schemas.openxmlformats.org/drawingml/2006/main">
            <a:off x="10287000" y="5391150"/>
            <a:ext cx="2971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132E45"/>
                </a:solidFill>
                <a:latin typeface="Arial"/>
                <a:ea typeface="Arial"/>
                <a:cs typeface="Arial"/>
              </a:defRPr>
            </a:pPr>
            <a:r>
              <a:rPr sz="1875" b="1">
                <a:solidFill>
                  <a:srgbClr val="132E45"/>
                </a:solidFill>
                <a:latin typeface="Arial"/>
                <a:ea typeface="Arial"/>
                <a:cs typeface="Arial"/>
              </a:rPr>
              <a:t>82.8% peak plan memory</a:t>
            </a:r>
          </a:p>
        </p:txBody>
      </p:sp>
      <p:sp>
        <p:nvSpPr>
          <p:cNvPr id="13" name="Memory peak qualification">
            <a:extLst xmlns:a="http://schemas.openxmlformats.org/drawingml/2006/main">
              <a:ext uri="{FF2B5EF4-FFF2-40B4-BE49-F238E27FC236}">
                <a16:creationId xmlns:a16="http://schemas.microsoft.com/office/drawing/2014/main" id="{00F8DA50-48E2-4870-B67A-58BEB1691E37}"/>
              </a:ext>
            </a:extLst>
          </p:cNvPr>
          <p:cNvSpPr>
            <a:spLocks xmlns:a="http://schemas.openxmlformats.org/drawingml/2006/main" noGrp="1"/>
          </p:cNvSpPr>
          <p:nvPr/>
        </p:nvSpPr>
        <p:spPr>
          <a:xfrm xmlns:a="http://schemas.openxmlformats.org/drawingml/2006/main">
            <a:off x="10287000" y="5781675"/>
            <a:ext cx="2971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0">
                <a:solidFill>
                  <a:srgbClr val="566779"/>
                </a:solidFill>
                <a:latin typeface="Arial"/>
                <a:ea typeface="Arial"/>
                <a:cs typeface="Arial"/>
              </a:defRPr>
            </a:pPr>
            <a:r>
              <a:rPr sz="1425" b="0">
                <a:solidFill>
                  <a:srgbClr val="566779"/>
                </a:solidFill>
                <a:latin typeface="Arial"/>
                <a:ea typeface="Arial"/>
                <a:cs typeface="Arial"/>
              </a:rPr>
              <a:t>Portal, highest 5-minute average</a:t>
            </a:r>
          </a:p>
        </p:txBody>
      </p:sp>
      <p:sp>
        <p:nvSpPr>
          <p:cNvPr id="14" name="Other workloads">
            <a:extLst xmlns:a="http://schemas.openxmlformats.org/drawingml/2006/main">
              <a:ext uri="{FF2B5EF4-FFF2-40B4-BE49-F238E27FC236}">
                <a16:creationId xmlns:a16="http://schemas.microsoft.com/office/drawing/2014/main" id="{B81B3297-44F1-49FF-8607-48FB7B8B3731}"/>
              </a:ext>
            </a:extLst>
          </p:cNvPr>
          <p:cNvSpPr>
            <a:spLocks xmlns:a="http://schemas.openxmlformats.org/drawingml/2006/main" noGrp="1"/>
          </p:cNvSpPr>
          <p:nvPr/>
        </p:nvSpPr>
        <p:spPr>
          <a:xfrm xmlns:a="http://schemas.openxmlformats.org/drawingml/2006/main">
            <a:off x="476250" y="6353175"/>
            <a:ext cx="127825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0">
                <a:solidFill>
                  <a:srgbClr val="132E45"/>
                </a:solidFill>
                <a:latin typeface="Arial"/>
                <a:ea typeface="Arial"/>
                <a:cs typeface="Arial"/>
              </a:defRPr>
            </a:pPr>
            <a:r>
              <a:rPr sz="1575" b="0">
                <a:solidFill>
                  <a:srgbClr val="132E45"/>
                </a:solidFill>
                <a:latin typeface="Arial"/>
                <a:ea typeface="Arial"/>
                <a:cs typeface="Arial"/>
              </a:rPr>
              <a:t>Other workloads: ORA, Legacy Docs and Medicaid are stopped with 0 requests.</a:t>
            </a:r>
          </a:p>
          <a:p xmlns:a="http://schemas.openxmlformats.org/drawingml/2006/main">
            <a:pPr>
              <a:defRPr sz="1575" b="0">
                <a:solidFill>
                  <a:srgbClr val="132E45"/>
                </a:solidFill>
                <a:latin typeface="Arial"/>
                <a:ea typeface="Arial"/>
                <a:cs typeface="Arial"/>
              </a:defRPr>
            </a:pPr>
            <a:r>
              <a:rPr sz="1575" b="0">
                <a:solidFill>
                  <a:srgbClr val="132E45"/>
                </a:solidFill>
                <a:latin typeface="Arial"/>
                <a:ea typeface="Arial"/>
                <a:cs typeface="Arial"/>
              </a:rPr>
              <a:t>DLQ function: 0 executions. Static Portal: 10,045 site hits.</a:t>
            </a:r>
          </a:p>
        </p:txBody>
      </p:sp>
      <p:sp>
        <p:nvSpPr>
          <p:cNvPr id="15" name="Limitation">
            <a:extLst xmlns:a="http://schemas.openxmlformats.org/drawingml/2006/main">
              <a:ext uri="{FF2B5EF4-FFF2-40B4-BE49-F238E27FC236}">
                <a16:creationId xmlns:a16="http://schemas.microsoft.com/office/drawing/2014/main" id="{5B3187ED-6032-4C2F-BE4B-49B857CAE402}"/>
              </a:ext>
            </a:extLst>
          </p:cNvPr>
          <p:cNvSpPr>
            <a:spLocks xmlns:a="http://schemas.openxmlformats.org/drawingml/2006/main" noGrp="1"/>
          </p:cNvSpPr>
          <p:nvPr/>
        </p:nvSpPr>
        <p:spPr>
          <a:xfrm xmlns:a="http://schemas.openxmlformats.org/drawingml/2006/main">
            <a:off x="476250" y="7000875"/>
            <a:ext cx="12763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0">
                <a:solidFill>
                  <a:srgbClr val="9B4C0A"/>
                </a:solidFill>
                <a:latin typeface="Arial"/>
                <a:ea typeface="Arial"/>
                <a:cs typeface="Arial"/>
              </a:defRPr>
            </a:pPr>
            <a:r>
              <a:rPr sz="1425" b="0">
                <a:solidFill>
                  <a:srgbClr val="9B4C0A"/>
                </a:solidFill>
                <a:latin typeface="Arial"/>
                <a:ea typeface="Arial"/>
                <a:cs typeface="Arial"/>
              </a:rPr>
              <a:t>p95/p99 and request causes remain unknown. Conditional Access blocked detailed log queries.</a:t>
            </a:r>
          </a:p>
        </p:txBody>
      </p:sp>
      <p:sp>
        <p:nvSpPr>
          <p:cNvPr id="16" name="Source and metric scope">
            <a:extLst xmlns:a="http://schemas.openxmlformats.org/drawingml/2006/main">
              <a:ext uri="{FF2B5EF4-FFF2-40B4-BE49-F238E27FC236}">
                <a16:creationId xmlns:a16="http://schemas.microsoft.com/office/drawing/2014/main" id="{2FAD6738-E89C-4D5E-815D-828B5A206029}"/>
              </a:ext>
            </a:extLst>
          </p:cNvPr>
          <p:cNvSpPr>
            <a:spLocks xmlns:a="http://schemas.openxmlformats.org/drawingml/2006/main" noGrp="1"/>
          </p:cNvSpPr>
          <p:nvPr/>
        </p:nvSpPr>
        <p:spPr>
          <a:xfrm xmlns:a="http://schemas.openxmlformats.org/drawingml/2006/main">
            <a:off x="476250" y="7391400"/>
            <a:ext cx="12763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66779"/>
                </a:solidFill>
                <a:latin typeface="Arial"/>
                <a:ea typeface="Arial"/>
                <a:cs typeface="Arial"/>
              </a:defRPr>
            </a:pPr>
            <a:r>
              <a:rPr sz="1125" b="0">
                <a:solidFill>
                  <a:srgbClr val="566779"/>
                </a:solidFill>
                <a:latin typeface="Arial"/>
                <a:ea typeface="Arial"/>
                <a:cs typeface="Arial"/>
              </a:rPr>
              <a:t>Source: Azure Monitor snapshot, 5 Sep 2026 05:41 UTC. Response averages include HTTP errors. CPU and memory are hosting-plan metrics.</a:t>
            </a:r>
          </a:p>
        </p:txBody>
      </p:sp>
    </p:spTree>
    <p:extLst>
      <p:ext uri="{BB962C8B-B14F-4D97-AF65-F5344CB8AC3E}">
        <p14:creationId xmlns:p14="http://schemas.microsoft.com/office/powerpoint/2010/main" val="72122976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2026-09-05T07:48:18.1040000Z</dcterms:created>
  <dcterms:modified xsi:type="dcterms:W3CDTF">2026-09-05T07:48:18.1040000Z</dcterms:modified>
</coreProperties>
</file>